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7"/>
  </p:notesMasterIdLst>
  <p:sldIdLst>
    <p:sldId id="262" r:id="rId2"/>
    <p:sldId id="257" r:id="rId3"/>
    <p:sldId id="263" r:id="rId4"/>
    <p:sldId id="261" r:id="rId5"/>
    <p:sldId id="260" r:id="rId6"/>
    <p:sldId id="259" r:id="rId7"/>
    <p:sldId id="258" r:id="rId8"/>
    <p:sldId id="265" r:id="rId9"/>
    <p:sldId id="266" r:id="rId10"/>
    <p:sldId id="264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8" autoAdjust="0"/>
    <p:restoredTop sz="94660"/>
  </p:normalViewPr>
  <p:slideViewPr>
    <p:cSldViewPr snapToGrid="0">
      <p:cViewPr varScale="1">
        <p:scale>
          <a:sx n="93" d="100"/>
          <a:sy n="93" d="100"/>
        </p:scale>
        <p:origin x="28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0D1645-CF39-4D1C-82B3-DFC832BB1622}" type="datetimeFigureOut">
              <a:rPr lang="en-GB" smtClean="0"/>
              <a:t>27/08/2023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EB5E-21DF-48AE-A1E5-F5513E87E6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1539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75EB5E-21DF-48AE-A1E5-F5513E87E68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2012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75EB5E-21DF-48AE-A1E5-F5513E87E68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9749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75EB5E-21DF-48AE-A1E5-F5513E87E68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4119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75EB5E-21DF-48AE-A1E5-F5513E87E68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4505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75EB5E-21DF-48AE-A1E5-F5513E87E68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3789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75EB5E-21DF-48AE-A1E5-F5513E87E68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604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75EB5E-21DF-48AE-A1E5-F5513E87E68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0343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75EB5E-21DF-48AE-A1E5-F5513E87E68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263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75EB5E-21DF-48AE-A1E5-F5513E87E68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5639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75EB5E-21DF-48AE-A1E5-F5513E87E68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0379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75EB5E-21DF-48AE-A1E5-F5513E87E68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819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75EB5E-21DF-48AE-A1E5-F5513E87E68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18096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75EB5E-21DF-48AE-A1E5-F5513E87E68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760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5D34AEE-3340-4BB3-93C5-C58F360F6410}" type="datetimeFigureOut">
              <a:rPr lang="en-GB" smtClean="0"/>
              <a:t>27/08/2023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1B4810B-3E59-4E0E-A07E-D8DD60A31C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8640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4AEE-3340-4BB3-93C5-C58F360F6410}" type="datetimeFigureOut">
              <a:rPr lang="en-GB" smtClean="0"/>
              <a:t>27/08/2023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4810B-3E59-4E0E-A07E-D8DD60A31C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891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4AEE-3340-4BB3-93C5-C58F360F6410}" type="datetimeFigureOut">
              <a:rPr lang="en-GB" smtClean="0"/>
              <a:t>27/08/2023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4810B-3E59-4E0E-A07E-D8DD60A31C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1996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4AEE-3340-4BB3-93C5-C58F360F6410}" type="datetimeFigureOut">
              <a:rPr lang="en-GB" smtClean="0"/>
              <a:t>27/08/2023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4810B-3E59-4E0E-A07E-D8DD60A31C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9939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4AEE-3340-4BB3-93C5-C58F360F6410}" type="datetimeFigureOut">
              <a:rPr lang="en-GB" smtClean="0"/>
              <a:t>27/08/2023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4810B-3E59-4E0E-A07E-D8DD60A31C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1845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4AEE-3340-4BB3-93C5-C58F360F6410}" type="datetimeFigureOut">
              <a:rPr lang="en-GB" smtClean="0"/>
              <a:t>27/08/2023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4810B-3E59-4E0E-A07E-D8DD60A31C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325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4AEE-3340-4BB3-93C5-C58F360F6410}" type="datetimeFigureOut">
              <a:rPr lang="en-GB" smtClean="0"/>
              <a:t>27/08/2023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4810B-3E59-4E0E-A07E-D8DD60A31C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9635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4AEE-3340-4BB3-93C5-C58F360F6410}" type="datetimeFigureOut">
              <a:rPr lang="en-GB" smtClean="0"/>
              <a:t>27/08/2023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4810B-3E59-4E0E-A07E-D8DD60A31C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6413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4AEE-3340-4BB3-93C5-C58F360F6410}" type="datetimeFigureOut">
              <a:rPr lang="en-GB" smtClean="0"/>
              <a:t>27/08/2023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4810B-3E59-4E0E-A07E-D8DD60A31C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4180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4AEE-3340-4BB3-93C5-C58F360F6410}" type="datetimeFigureOut">
              <a:rPr lang="en-GB" smtClean="0"/>
              <a:t>27/08/2023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4810B-3E59-4E0E-A07E-D8DD60A31C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140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4AEE-3340-4BB3-93C5-C58F360F6410}" type="datetimeFigureOut">
              <a:rPr lang="en-GB" smtClean="0"/>
              <a:t>27/08/2023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4810B-3E59-4E0E-A07E-D8DD60A31C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446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4AEE-3340-4BB3-93C5-C58F360F6410}" type="datetimeFigureOut">
              <a:rPr lang="en-GB" smtClean="0"/>
              <a:t>27/08/2023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4810B-3E59-4E0E-A07E-D8DD60A31C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3207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4AEE-3340-4BB3-93C5-C58F360F6410}" type="datetimeFigureOut">
              <a:rPr lang="en-GB" smtClean="0"/>
              <a:t>27/08/2023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4810B-3E59-4E0E-A07E-D8DD60A31C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9656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4AEE-3340-4BB3-93C5-C58F360F6410}" type="datetimeFigureOut">
              <a:rPr lang="en-GB" smtClean="0"/>
              <a:t>27/08/2023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4810B-3E59-4E0E-A07E-D8DD60A31C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03600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4AEE-3340-4BB3-93C5-C58F360F6410}" type="datetimeFigureOut">
              <a:rPr lang="en-GB" smtClean="0"/>
              <a:t>27/08/2023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4810B-3E59-4E0E-A07E-D8DD60A31C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18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5D34AEE-3340-4BB3-93C5-C58F360F6410}" type="datetimeFigureOut">
              <a:rPr lang="en-GB" smtClean="0"/>
              <a:t>27/08/2023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4810B-3E59-4E0E-A07E-D8DD60A31C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35256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5D34AEE-3340-4BB3-93C5-C58F360F6410}" type="datetimeFigureOut">
              <a:rPr lang="en-GB" smtClean="0"/>
              <a:t>27/08/2023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4810B-3E59-4E0E-A07E-D8DD60A31C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9268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5D34AEE-3340-4BB3-93C5-C58F360F6410}" type="datetimeFigureOut">
              <a:rPr lang="en-GB" smtClean="0"/>
              <a:t>27/08/2023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1B4810B-3E59-4E0E-A07E-D8DD60A31C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378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4.svg"/><Relationship Id="rId3" Type="http://schemas.openxmlformats.org/officeDocument/2006/relationships/image" Target="../media/image18.png"/><Relationship Id="rId7" Type="http://schemas.openxmlformats.org/officeDocument/2006/relationships/image" Target="../media/image8.sv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22.svg"/><Relationship Id="rId5" Type="http://schemas.openxmlformats.org/officeDocument/2006/relationships/image" Target="../media/image20.svg"/><Relationship Id="rId10" Type="http://schemas.openxmlformats.org/officeDocument/2006/relationships/image" Target="../media/image21.png"/><Relationship Id="rId4" Type="http://schemas.openxmlformats.org/officeDocument/2006/relationships/image" Target="../media/image19.png"/><Relationship Id="rId9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33.svg"/><Relationship Id="rId3" Type="http://schemas.openxmlformats.org/officeDocument/2006/relationships/image" Target="../media/image1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svg"/><Relationship Id="rId10" Type="http://schemas.openxmlformats.org/officeDocument/2006/relationships/image" Target="../media/image30.svg"/><Relationship Id="rId4" Type="http://schemas.openxmlformats.org/officeDocument/2006/relationships/image" Target="../media/image14.sv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39.jpeg"/><Relationship Id="rId4" Type="http://schemas.openxmlformats.org/officeDocument/2006/relationships/image" Target="../media/image20.svg"/><Relationship Id="rId9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20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73029-1624-9AFD-8B4C-46B1C311D7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Narong Sungkhamalai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3A6A5-AACC-5E00-A4B5-C35831C0F4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h-TH" sz="4000" dirty="0"/>
              <a:t>ณรงค์   สังขมาลัย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642318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08B1D-A74E-09FC-5242-1AC84890C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Overview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2EBC6-4D3F-FFE7-C4A3-8E7E61CB4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Current Position	:    Tech lead/Back office team</a:t>
            </a:r>
            <a:endParaRPr lang="th-TH" dirty="0"/>
          </a:p>
          <a:p>
            <a:r>
              <a:rPr lang="en-GB" dirty="0"/>
              <a:t>Experience		:</a:t>
            </a:r>
            <a:endParaRPr lang="th-TH" dirty="0"/>
          </a:p>
          <a:p>
            <a:pPr lvl="1"/>
            <a:r>
              <a:rPr lang="en-GB" dirty="0"/>
              <a:t>Bualuang Securities </a:t>
            </a:r>
            <a:r>
              <a:rPr lang="en-GB" dirty="0" err="1"/>
              <a:t>pcl.</a:t>
            </a:r>
            <a:r>
              <a:rPr lang="en-GB" dirty="0"/>
              <a:t>		:  </a:t>
            </a:r>
            <a:r>
              <a:rPr lang="th-TH" dirty="0"/>
              <a:t>	</a:t>
            </a:r>
            <a:r>
              <a:rPr lang="en-GB" dirty="0"/>
              <a:t>2010 – Current (13 year)</a:t>
            </a:r>
            <a:endParaRPr lang="th-TH" dirty="0"/>
          </a:p>
          <a:p>
            <a:pPr lvl="1"/>
            <a:r>
              <a:rPr lang="en-GB" dirty="0"/>
              <a:t>Krungthai Asset management:	2003 – 2010 (7 year)</a:t>
            </a:r>
            <a:endParaRPr lang="th-TH" dirty="0"/>
          </a:p>
          <a:p>
            <a:pPr lvl="1"/>
            <a:r>
              <a:rPr lang="en-GB" dirty="0"/>
              <a:t>Siam Computer Institute		:	2000 – 2002 (3 year)	</a:t>
            </a:r>
          </a:p>
          <a:p>
            <a:r>
              <a:rPr lang="en-GB" dirty="0"/>
              <a:t>Education	: BS Industrial Education/Computer KMITL (2</a:t>
            </a:r>
            <a:r>
              <a:rPr lang="en-GB" baseline="30000" dirty="0"/>
              <a:t>nd</a:t>
            </a:r>
            <a:r>
              <a:rPr lang="en-GB" dirty="0"/>
              <a:t> Honor)	</a:t>
            </a:r>
          </a:p>
        </p:txBody>
      </p:sp>
    </p:spTree>
    <p:extLst>
      <p:ext uri="{BB962C8B-B14F-4D97-AF65-F5344CB8AC3E}">
        <p14:creationId xmlns:p14="http://schemas.microsoft.com/office/powerpoint/2010/main" val="661396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53BE3-E2D4-9E59-3D34-7B01EF61D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Experience					Siam Computer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87C1C-A8E2-8E4E-C465-9C0CCC6523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Computer Instructor        2000-2002</a:t>
            </a:r>
          </a:p>
          <a:p>
            <a:pPr lvl="1"/>
            <a:r>
              <a:rPr lang="en-US" dirty="0"/>
              <a:t>MS Office word/excel/PowerPoint</a:t>
            </a:r>
          </a:p>
          <a:p>
            <a:pPr lvl="1"/>
            <a:r>
              <a:rPr lang="en-US" dirty="0"/>
              <a:t>Basic programming </a:t>
            </a:r>
            <a:r>
              <a:rPr lang="en-US" dirty="0" err="1"/>
              <a:t>ms</a:t>
            </a:r>
            <a:r>
              <a:rPr lang="en-US" dirty="0"/>
              <a:t> access</a:t>
            </a:r>
          </a:p>
          <a:p>
            <a:pPr lvl="1"/>
            <a:r>
              <a:rPr lang="en-US" dirty="0"/>
              <a:t>Advance programming </a:t>
            </a:r>
            <a:r>
              <a:rPr lang="en-US" dirty="0" err="1"/>
              <a:t>vb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6762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53BE3-E2D4-9E59-3D34-7B01EF61D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Experience							              KTAM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87C1C-A8E2-8E4E-C465-9C0CCC6523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Programmer                      2003-2005</a:t>
            </a:r>
            <a:endParaRPr lang="en-GB" dirty="0"/>
          </a:p>
          <a:p>
            <a:pPr lvl="1"/>
            <a:r>
              <a:rPr lang="en-US" dirty="0"/>
              <a:t>Requirement gathering</a:t>
            </a:r>
          </a:p>
          <a:p>
            <a:pPr lvl="1"/>
            <a:r>
              <a:rPr lang="en-US" dirty="0"/>
              <a:t>Development software In house</a:t>
            </a:r>
          </a:p>
          <a:p>
            <a:pPr lvl="1"/>
            <a:r>
              <a:rPr lang="en-US" dirty="0"/>
              <a:t>Convert FoxPro to Visual Basic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52E107C-375E-E546-6863-AEC8B3BF6713}"/>
              </a:ext>
            </a:extLst>
          </p:cNvPr>
          <p:cNvSpPr txBox="1">
            <a:spLocks/>
          </p:cNvSpPr>
          <p:nvPr/>
        </p:nvSpPr>
        <p:spPr>
          <a:xfrm>
            <a:off x="5980112" y="2603499"/>
            <a:ext cx="5648008" cy="3416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Senior Programmer                             2005-2009</a:t>
            </a:r>
          </a:p>
          <a:p>
            <a:pPr lvl="1"/>
            <a:r>
              <a:rPr lang="en-US" dirty="0"/>
              <a:t>Team lead support/programmer</a:t>
            </a:r>
          </a:p>
          <a:p>
            <a:pPr lvl="1"/>
            <a:r>
              <a:rPr lang="en-US" dirty="0"/>
              <a:t>IT Budget plaining</a:t>
            </a:r>
          </a:p>
          <a:p>
            <a:pPr lvl="1"/>
            <a:r>
              <a:rPr lang="en-US" dirty="0"/>
              <a:t>System </a:t>
            </a:r>
            <a:r>
              <a:rPr lang="en-GB" dirty="0"/>
              <a:t>Engineer</a:t>
            </a:r>
            <a:endParaRPr lang="en-US" dirty="0"/>
          </a:p>
          <a:p>
            <a:pPr lvl="2"/>
            <a:r>
              <a:rPr lang="en-US" dirty="0"/>
              <a:t>Implement MS Exchange convert form Lotus notes</a:t>
            </a:r>
          </a:p>
          <a:p>
            <a:pPr lvl="2"/>
            <a:r>
              <a:rPr lang="en-US" dirty="0"/>
              <a:t>Server/Network/Storage Admin</a:t>
            </a:r>
          </a:p>
          <a:p>
            <a:pPr lvl="2"/>
            <a:r>
              <a:rPr lang="en-US" dirty="0"/>
              <a:t>Database administrator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16FF96-34F5-3C63-F246-1EE906677421}"/>
              </a:ext>
            </a:extLst>
          </p:cNvPr>
          <p:cNvSpPr txBox="1"/>
          <p:nvPr/>
        </p:nvSpPr>
        <p:spPr>
          <a:xfrm>
            <a:off x="5565970" y="1579858"/>
            <a:ext cx="4350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Krungthai Asset management</a:t>
            </a:r>
          </a:p>
        </p:txBody>
      </p:sp>
    </p:spTree>
    <p:extLst>
      <p:ext uri="{BB962C8B-B14F-4D97-AF65-F5344CB8AC3E}">
        <p14:creationId xmlns:p14="http://schemas.microsoft.com/office/powerpoint/2010/main" val="3594800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53BE3-E2D4-9E59-3D34-7B01EF61D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810140" cy="706964"/>
          </a:xfrm>
        </p:spPr>
        <p:txBody>
          <a:bodyPr/>
          <a:lstStyle/>
          <a:p>
            <a:r>
              <a:rPr lang="en-US" dirty="0"/>
              <a:t>Experience</a:t>
            </a:r>
            <a:r>
              <a:rPr lang="th-TH" dirty="0"/>
              <a:t> </a:t>
            </a:r>
            <a:r>
              <a:rPr lang="en-US" dirty="0"/>
              <a:t>			     </a:t>
            </a:r>
            <a:r>
              <a:rPr lang="en-GB" dirty="0"/>
              <a:t>Bualuang Securities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87C1C-A8E2-8E4E-C465-9C0CCC6523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System Analyst 5 year               2010-2015</a:t>
            </a:r>
          </a:p>
          <a:p>
            <a:pPr lvl="1"/>
            <a:r>
              <a:rPr lang="en-US" dirty="0" err="1"/>
              <a:t>Hiport</a:t>
            </a:r>
            <a:endParaRPr lang="en-US" dirty="0"/>
          </a:p>
          <a:p>
            <a:pPr lvl="1"/>
            <a:r>
              <a:rPr lang="en-US" dirty="0" err="1"/>
              <a:t>HiBLS</a:t>
            </a:r>
            <a:endParaRPr lang="en-US" dirty="0"/>
          </a:p>
          <a:p>
            <a:pPr lvl="1"/>
            <a:r>
              <a:rPr lang="en-US" dirty="0"/>
              <a:t>SharePoint Bualuang Intranet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US" dirty="0"/>
              <a:t>Senior System Analyst 5 year   2016-2020</a:t>
            </a:r>
          </a:p>
          <a:p>
            <a:pPr lvl="1"/>
            <a:r>
              <a:rPr lang="en-US" dirty="0"/>
              <a:t>K2 deposit/withdrawal</a:t>
            </a:r>
          </a:p>
          <a:p>
            <a:pPr lvl="1"/>
            <a:r>
              <a:rPr lang="en-US" dirty="0" err="1"/>
              <a:t>iPoint</a:t>
            </a:r>
            <a:r>
              <a:rPr lang="en-US" dirty="0"/>
              <a:t> System</a:t>
            </a:r>
          </a:p>
          <a:p>
            <a:pPr lvl="1"/>
            <a:r>
              <a:rPr lang="en-US" dirty="0"/>
              <a:t>SharePoint Structure Notes</a:t>
            </a:r>
          </a:p>
          <a:p>
            <a:pPr lvl="1"/>
            <a:r>
              <a:rPr lang="en-US" dirty="0"/>
              <a:t>Customer info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0BC77-A4C5-490F-E98B-AFB8901B0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5116785" cy="341630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Tech lead</a:t>
            </a:r>
            <a:r>
              <a:rPr lang="en-US" dirty="0"/>
              <a:t>/</a:t>
            </a:r>
            <a:r>
              <a:rPr lang="en-GB" dirty="0"/>
              <a:t>Backoffice 4 year         2020-Now</a:t>
            </a:r>
          </a:p>
          <a:p>
            <a:pPr lvl="1"/>
            <a:r>
              <a:rPr lang="en-GB" dirty="0"/>
              <a:t>Manage My's team for Fund Business</a:t>
            </a:r>
          </a:p>
          <a:p>
            <a:pPr lvl="2"/>
            <a:r>
              <a:rPr lang="en-GB" dirty="0"/>
              <a:t>2 B/A</a:t>
            </a:r>
          </a:p>
          <a:p>
            <a:pPr lvl="2"/>
            <a:r>
              <a:rPr lang="en-GB" dirty="0"/>
              <a:t>2 SA/Support</a:t>
            </a:r>
          </a:p>
          <a:p>
            <a:pPr lvl="2"/>
            <a:r>
              <a:rPr lang="en-GB" dirty="0"/>
              <a:t>2 Dev</a:t>
            </a:r>
          </a:p>
          <a:p>
            <a:pPr marL="914400" lvl="2" indent="0">
              <a:buNone/>
            </a:pPr>
            <a:endParaRPr lang="th-TH" dirty="0"/>
          </a:p>
          <a:p>
            <a:pPr lvl="1"/>
            <a:r>
              <a:rPr lang="en-GB" dirty="0"/>
              <a:t>Project planning/Prioritizing</a:t>
            </a:r>
          </a:p>
          <a:p>
            <a:pPr lvl="1"/>
            <a:r>
              <a:rPr lang="en-GB" dirty="0"/>
              <a:t>Mentor Team/Knowledge sharing</a:t>
            </a:r>
          </a:p>
          <a:p>
            <a:pPr lvl="1"/>
            <a:r>
              <a:rPr lang="en-GB" dirty="0"/>
              <a:t>System Resource Planning</a:t>
            </a:r>
          </a:p>
          <a:p>
            <a:pPr lvl="1"/>
            <a:r>
              <a:rPr lang="en-GB" dirty="0"/>
              <a:t>Problem solving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6086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A441A39-481D-27F9-7EC2-8EFFA830A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find new career?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E33B6-D4A5-DCB9-95C1-142973A9A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Why find new career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B0BA8BD-8283-EF37-6938-20B8B11804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Find way to growth up</a:t>
            </a:r>
            <a:endParaRPr lang="th-TH" dirty="0"/>
          </a:p>
          <a:p>
            <a:r>
              <a:rPr lang="en-GB" dirty="0"/>
              <a:t>Exit from Comfort Zone</a:t>
            </a:r>
            <a:endParaRPr lang="th-TH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13EA3-DC21-3E14-0250-2CCEFC3AC3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Why apply this position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D38275B-9B6B-59E7-2A6B-B32B8936164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Challenge job</a:t>
            </a:r>
            <a:endParaRPr lang="th-TH" dirty="0"/>
          </a:p>
          <a:p>
            <a:r>
              <a:rPr lang="en-GB" dirty="0"/>
              <a:t>Top tier of sector</a:t>
            </a:r>
          </a:p>
          <a:p>
            <a:r>
              <a:rPr lang="en-GB" dirty="0"/>
              <a:t>Firm/growth company</a:t>
            </a:r>
          </a:p>
        </p:txBody>
      </p:sp>
    </p:spTree>
    <p:extLst>
      <p:ext uri="{BB962C8B-B14F-4D97-AF65-F5344CB8AC3E}">
        <p14:creationId xmlns:p14="http://schemas.microsoft.com/office/powerpoint/2010/main" val="774499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9E86C-7F5D-CFCB-877C-88398C6E2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Strong/Weak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5444F6-3520-D1E7-2F44-1B799320D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4822F7-DA18-3B40-1AE8-79566CEEBBA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Solution-oriented</a:t>
            </a:r>
          </a:p>
          <a:p>
            <a:r>
              <a:rPr lang="en-GB" dirty="0"/>
              <a:t>Analytical skills</a:t>
            </a:r>
          </a:p>
          <a:p>
            <a:r>
              <a:rPr lang="en-GB" dirty="0"/>
              <a:t>Continual improvement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BE23FCA-2AF8-7CAF-D7C7-CE8B112C66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weak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0AD770-979E-5A4E-D2D8-3DEFE76CD41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Talk in public</a:t>
            </a:r>
          </a:p>
        </p:txBody>
      </p:sp>
    </p:spTree>
    <p:extLst>
      <p:ext uri="{BB962C8B-B14F-4D97-AF65-F5344CB8AC3E}">
        <p14:creationId xmlns:p14="http://schemas.microsoft.com/office/powerpoint/2010/main" val="1597565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1DC0B-F3B6-1A76-1DA0-71D86401C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Hiportfolio</a:t>
            </a:r>
            <a:r>
              <a:rPr lang="en-GB" dirty="0"/>
              <a:t>               						</a:t>
            </a:r>
            <a:r>
              <a:rPr lang="en-GB" dirty="0" err="1"/>
              <a:t>HiBLS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5BEB7-C0AE-7F57-C74C-B6CF32DC0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092" y="2603500"/>
            <a:ext cx="3076575" cy="581025"/>
          </a:xfrm>
          <a:prstGeom prst="rect">
            <a:avLst/>
          </a:prstGeom>
        </p:spPr>
      </p:pic>
      <p:pic>
        <p:nvPicPr>
          <p:cNvPr id="7" name="Graphic 6" descr="Document">
            <a:extLst>
              <a:ext uri="{FF2B5EF4-FFF2-40B4-BE49-F238E27FC236}">
                <a16:creationId xmlns:a16="http://schemas.microsoft.com/office/drawing/2014/main" id="{6620687B-3C82-CC9A-B364-16A3C39EDE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44133" y="3852016"/>
            <a:ext cx="510753" cy="510753"/>
          </a:xfrm>
          <a:prstGeom prst="rect">
            <a:avLst/>
          </a:prstGeom>
        </p:spPr>
      </p:pic>
      <p:pic>
        <p:nvPicPr>
          <p:cNvPr id="9" name="Graphic 8" descr="Paper">
            <a:extLst>
              <a:ext uri="{FF2B5EF4-FFF2-40B4-BE49-F238E27FC236}">
                <a16:creationId xmlns:a16="http://schemas.microsoft.com/office/drawing/2014/main" id="{946FCDB6-FFEC-61D1-012E-DDF2D1DC59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33600" y="3825336"/>
            <a:ext cx="510753" cy="510753"/>
          </a:xfrm>
          <a:prstGeom prst="rect">
            <a:avLst/>
          </a:prstGeom>
        </p:spPr>
      </p:pic>
      <p:sp>
        <p:nvSpPr>
          <p:cNvPr id="10" name="Cylinder 9">
            <a:extLst>
              <a:ext uri="{FF2B5EF4-FFF2-40B4-BE49-F238E27FC236}">
                <a16:creationId xmlns:a16="http://schemas.microsoft.com/office/drawing/2014/main" id="{3FC5C557-ABFC-9F53-7D37-22F49BA31A58}"/>
              </a:ext>
            </a:extLst>
          </p:cNvPr>
          <p:cNvSpPr/>
          <p:nvPr/>
        </p:nvSpPr>
        <p:spPr>
          <a:xfrm>
            <a:off x="6338960" y="3596639"/>
            <a:ext cx="830580" cy="706964"/>
          </a:xfrm>
          <a:prstGeom prst="ca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SQL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1306BB-02D2-1598-56A0-BC9AEF2EBB15}"/>
              </a:ext>
            </a:extLst>
          </p:cNvPr>
          <p:cNvSpPr txBox="1"/>
          <p:nvPr/>
        </p:nvSpPr>
        <p:spPr>
          <a:xfrm>
            <a:off x="1089660" y="4480560"/>
            <a:ext cx="1968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Report Designer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872388-A43A-4B01-3B82-71D488751FD2}"/>
              </a:ext>
            </a:extLst>
          </p:cNvPr>
          <p:cNvSpPr txBox="1"/>
          <p:nvPr/>
        </p:nvSpPr>
        <p:spPr>
          <a:xfrm>
            <a:off x="3444133" y="4480560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Export Data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74A0DC8-68B0-B56A-D108-916D59E7F207}"/>
              </a:ext>
            </a:extLst>
          </p:cNvPr>
          <p:cNvSpPr/>
          <p:nvPr/>
        </p:nvSpPr>
        <p:spPr>
          <a:xfrm>
            <a:off x="2834640" y="3950121"/>
            <a:ext cx="358140" cy="1572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B47039B-3972-E945-A003-74FD2E452583}"/>
              </a:ext>
            </a:extLst>
          </p:cNvPr>
          <p:cNvSpPr/>
          <p:nvPr/>
        </p:nvSpPr>
        <p:spPr>
          <a:xfrm>
            <a:off x="4206238" y="3950121"/>
            <a:ext cx="1889761" cy="1572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Graphic 14" descr="Browser window">
            <a:extLst>
              <a:ext uri="{FF2B5EF4-FFF2-40B4-BE49-F238E27FC236}">
                <a16:creationId xmlns:a16="http://schemas.microsoft.com/office/drawing/2014/main" id="{08ABE0B2-209D-5E07-0E30-1F5B358D5F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03417" y="3682943"/>
            <a:ext cx="655320" cy="655320"/>
          </a:xfrm>
          <a:prstGeom prst="rect">
            <a:avLst/>
          </a:prstGeom>
        </p:spPr>
      </p:pic>
      <p:pic>
        <p:nvPicPr>
          <p:cNvPr id="17" name="Graphic 16" descr="Presentation with bar chart RTL">
            <a:extLst>
              <a:ext uri="{FF2B5EF4-FFF2-40B4-BE49-F238E27FC236}">
                <a16:creationId xmlns:a16="http://schemas.microsoft.com/office/drawing/2014/main" id="{2A73E5FB-10E4-58E8-8257-60A28A3F4BB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03898" y="4460864"/>
            <a:ext cx="914400" cy="914400"/>
          </a:xfrm>
          <a:prstGeom prst="rect">
            <a:avLst/>
          </a:prstGeom>
        </p:spPr>
      </p:pic>
      <p:pic>
        <p:nvPicPr>
          <p:cNvPr id="19" name="Graphic 18" descr="Open book">
            <a:extLst>
              <a:ext uri="{FF2B5EF4-FFF2-40B4-BE49-F238E27FC236}">
                <a16:creationId xmlns:a16="http://schemas.microsoft.com/office/drawing/2014/main" id="{2DD35D09-8F73-73C5-8A98-03EB83D7E72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74094" y="3058580"/>
            <a:ext cx="914400" cy="914400"/>
          </a:xfrm>
          <a:prstGeom prst="rect">
            <a:avLst/>
          </a:prstGeom>
        </p:spPr>
      </p:pic>
      <p:pic>
        <p:nvPicPr>
          <p:cNvPr id="20" name="Graphic 19" descr="Man">
            <a:extLst>
              <a:ext uri="{FF2B5EF4-FFF2-40B4-BE49-F238E27FC236}">
                <a16:creationId xmlns:a16="http://schemas.microsoft.com/office/drawing/2014/main" id="{FBB133AD-735F-5331-46D7-50B62CAB704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50031" y="3623512"/>
            <a:ext cx="914400" cy="914400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5C710333-87E8-5F7A-36B3-4B6CA531385B}"/>
              </a:ext>
            </a:extLst>
          </p:cNvPr>
          <p:cNvSpPr/>
          <p:nvPr/>
        </p:nvSpPr>
        <p:spPr>
          <a:xfrm>
            <a:off x="7290423" y="3950121"/>
            <a:ext cx="376845" cy="1209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9EEA09-CD5E-84B3-954B-5F69609D1251}"/>
              </a:ext>
            </a:extLst>
          </p:cNvPr>
          <p:cNvSpPr txBox="1"/>
          <p:nvPr/>
        </p:nvSpPr>
        <p:spPr>
          <a:xfrm>
            <a:off x="6462816" y="2709345"/>
            <a:ext cx="14848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HIBLS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501111-3259-C6B8-F6FB-6798818FF6D6}"/>
              </a:ext>
            </a:extLst>
          </p:cNvPr>
          <p:cNvSpPr txBox="1"/>
          <p:nvPr/>
        </p:nvSpPr>
        <p:spPr>
          <a:xfrm>
            <a:off x="6561767" y="4548732"/>
            <a:ext cx="1834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Data Interface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E796CC-891D-15E7-961A-B612E6609E73}"/>
              </a:ext>
            </a:extLst>
          </p:cNvPr>
          <p:cNvSpPr txBox="1"/>
          <p:nvPr/>
        </p:nvSpPr>
        <p:spPr>
          <a:xfrm>
            <a:off x="8579610" y="5515000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Reporting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6FD9C0-BC55-FDA7-2787-B6477E2EF822}"/>
              </a:ext>
            </a:extLst>
          </p:cNvPr>
          <p:cNvSpPr txBox="1"/>
          <p:nvPr/>
        </p:nvSpPr>
        <p:spPr>
          <a:xfrm>
            <a:off x="8729984" y="2689248"/>
            <a:ext cx="2372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Data Management</a:t>
            </a:r>
          </a:p>
        </p:txBody>
      </p:sp>
    </p:spTree>
    <p:extLst>
      <p:ext uri="{BB962C8B-B14F-4D97-AF65-F5344CB8AC3E}">
        <p14:creationId xmlns:p14="http://schemas.microsoft.com/office/powerpoint/2010/main" val="1887290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C65C859-23D8-1D87-AB2D-688AAA9EA76B}"/>
              </a:ext>
            </a:extLst>
          </p:cNvPr>
          <p:cNvSpPr/>
          <p:nvPr/>
        </p:nvSpPr>
        <p:spPr>
          <a:xfrm>
            <a:off x="7150443" y="2652584"/>
            <a:ext cx="2916195" cy="213911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B11024-C3FE-4FF8-5C69-CF8170F3E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Bualuang Intranet</a:t>
            </a:r>
          </a:p>
        </p:txBody>
      </p:sp>
      <p:pic>
        <p:nvPicPr>
          <p:cNvPr id="1026" name="Picture 2" descr="Setting Up a Blog with SharePoint 2010">
            <a:extLst>
              <a:ext uri="{FF2B5EF4-FFF2-40B4-BE49-F238E27FC236}">
                <a16:creationId xmlns:a16="http://schemas.microsoft.com/office/drawing/2014/main" id="{E069879F-F41D-41F9-A0A3-4939EFEE0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917" y="2870834"/>
            <a:ext cx="2838450" cy="141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34501AB-B2A2-C5B4-375B-48B609A16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829" y="3890855"/>
            <a:ext cx="2630871" cy="508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921B29-C14E-F54F-29A3-37E1FB39828B}"/>
              </a:ext>
            </a:extLst>
          </p:cNvPr>
          <p:cNvSpPr txBox="1"/>
          <p:nvPr/>
        </p:nvSpPr>
        <p:spPr>
          <a:xfrm>
            <a:off x="7411183" y="4290059"/>
            <a:ext cx="2024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Setup and Install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15DFE1-FBED-7113-EF83-6296EC9124ED}"/>
              </a:ext>
            </a:extLst>
          </p:cNvPr>
          <p:cNvSpPr txBox="1"/>
          <p:nvPr/>
        </p:nvSpPr>
        <p:spPr>
          <a:xfrm>
            <a:off x="7886226" y="6274944"/>
            <a:ext cx="1444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Site map</a:t>
            </a:r>
          </a:p>
        </p:txBody>
      </p:sp>
      <p:pic>
        <p:nvPicPr>
          <p:cNvPr id="1030" name="Picture 6" descr="5 Sitemap Examples That Showcase Best Practices In Action">
            <a:extLst>
              <a:ext uri="{FF2B5EF4-FFF2-40B4-BE49-F238E27FC236}">
                <a16:creationId xmlns:a16="http://schemas.microsoft.com/office/drawing/2014/main" id="{607CE3B5-109F-B3E3-F1C2-25A060C67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850" y="4928710"/>
            <a:ext cx="2487380" cy="1277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43CCF530-42B2-2556-A0D4-6E643B41437B}"/>
              </a:ext>
            </a:extLst>
          </p:cNvPr>
          <p:cNvSpPr/>
          <p:nvPr/>
        </p:nvSpPr>
        <p:spPr>
          <a:xfrm>
            <a:off x="4730321" y="4018014"/>
            <a:ext cx="1610678" cy="2543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5D8BBA-74A0-5DF5-FDDD-0F2279671DD6}"/>
              </a:ext>
            </a:extLst>
          </p:cNvPr>
          <p:cNvSpPr/>
          <p:nvPr/>
        </p:nvSpPr>
        <p:spPr>
          <a:xfrm>
            <a:off x="4442460" y="5146264"/>
            <a:ext cx="2232660" cy="902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Join Intranet working group</a:t>
            </a:r>
          </a:p>
        </p:txBody>
      </p:sp>
    </p:spTree>
    <p:extLst>
      <p:ext uri="{BB962C8B-B14F-4D97-AF65-F5344CB8AC3E}">
        <p14:creationId xmlns:p14="http://schemas.microsoft.com/office/powerpoint/2010/main" val="2904066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23B12F-3AAF-3FCE-CCCC-C5ACD923C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iPoint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C4D5CD-5AFC-E8A3-85FB-738186D92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94" y="2473446"/>
            <a:ext cx="4657725" cy="1838204"/>
          </a:xfrm>
          <a:prstGeom prst="rect">
            <a:avLst/>
          </a:prstGeom>
        </p:spPr>
      </p:pic>
      <p:sp>
        <p:nvSpPr>
          <p:cNvPr id="7" name="Cylinder 6">
            <a:extLst>
              <a:ext uri="{FF2B5EF4-FFF2-40B4-BE49-F238E27FC236}">
                <a16:creationId xmlns:a16="http://schemas.microsoft.com/office/drawing/2014/main" id="{79D88971-5A67-2FE7-97DC-932542B3241F}"/>
              </a:ext>
            </a:extLst>
          </p:cNvPr>
          <p:cNvSpPr/>
          <p:nvPr/>
        </p:nvSpPr>
        <p:spPr>
          <a:xfrm>
            <a:off x="1402080" y="4709159"/>
            <a:ext cx="1128257" cy="970729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Back End Trading</a:t>
            </a:r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A88C26FB-12E6-0E24-5EB7-E14FB5AD751D}"/>
              </a:ext>
            </a:extLst>
          </p:cNvPr>
          <p:cNvSpPr/>
          <p:nvPr/>
        </p:nvSpPr>
        <p:spPr>
          <a:xfrm>
            <a:off x="5234648" y="5313444"/>
            <a:ext cx="781320" cy="579120"/>
          </a:xfrm>
          <a:prstGeom prst="ca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iPoint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A31C39-B56C-55E4-B61A-235487A02622}"/>
              </a:ext>
            </a:extLst>
          </p:cNvPr>
          <p:cNvSpPr/>
          <p:nvPr/>
        </p:nvSpPr>
        <p:spPr>
          <a:xfrm>
            <a:off x="3000531" y="5434752"/>
            <a:ext cx="704873" cy="44958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ETL</a:t>
            </a:r>
          </a:p>
        </p:txBody>
      </p:sp>
      <p:pic>
        <p:nvPicPr>
          <p:cNvPr id="13" name="Graphic 12" descr="Document">
            <a:extLst>
              <a:ext uri="{FF2B5EF4-FFF2-40B4-BE49-F238E27FC236}">
                <a16:creationId xmlns:a16="http://schemas.microsoft.com/office/drawing/2014/main" id="{64CE27CB-686D-0D64-B633-E66FC7B2C3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8451" y="5795457"/>
            <a:ext cx="563880" cy="563880"/>
          </a:xfrm>
          <a:prstGeom prst="rect">
            <a:avLst/>
          </a:prstGeom>
        </p:spPr>
      </p:pic>
      <p:pic>
        <p:nvPicPr>
          <p:cNvPr id="15" name="Graphic 14" descr="Browser window">
            <a:extLst>
              <a:ext uri="{FF2B5EF4-FFF2-40B4-BE49-F238E27FC236}">
                <a16:creationId xmlns:a16="http://schemas.microsoft.com/office/drawing/2014/main" id="{BA2087DF-56AD-29AE-C6FE-644F725433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00900" y="4709160"/>
            <a:ext cx="655320" cy="655320"/>
          </a:xfrm>
          <a:prstGeom prst="rect">
            <a:avLst/>
          </a:prstGeom>
        </p:spPr>
      </p:pic>
      <p:pic>
        <p:nvPicPr>
          <p:cNvPr id="17" name="Graphic 16" descr="Man">
            <a:extLst>
              <a:ext uri="{FF2B5EF4-FFF2-40B4-BE49-F238E27FC236}">
                <a16:creationId xmlns:a16="http://schemas.microsoft.com/office/drawing/2014/main" id="{FD715E32-AFB3-E3E0-FD15-E1C75217110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56671" y="4762500"/>
            <a:ext cx="914400" cy="914400"/>
          </a:xfrm>
          <a:prstGeom prst="rect">
            <a:avLst/>
          </a:prstGeom>
        </p:spPr>
      </p:pic>
      <p:pic>
        <p:nvPicPr>
          <p:cNvPr id="19" name="Graphic 18" descr="Open envelope">
            <a:extLst>
              <a:ext uri="{FF2B5EF4-FFF2-40B4-BE49-F238E27FC236}">
                <a16:creationId xmlns:a16="http://schemas.microsoft.com/office/drawing/2014/main" id="{222AD270-57AC-D3B3-FDBA-963BCFBBB95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39000" y="5307330"/>
            <a:ext cx="579120" cy="579120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B3D20224-0BB7-8F72-3024-5C24121DFC66}"/>
              </a:ext>
            </a:extLst>
          </p:cNvPr>
          <p:cNvSpPr/>
          <p:nvPr/>
        </p:nvSpPr>
        <p:spPr>
          <a:xfrm>
            <a:off x="2720340" y="5589270"/>
            <a:ext cx="234631" cy="1752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08F2AB15-3C7F-D00B-11BB-47CCC6B22B64}"/>
              </a:ext>
            </a:extLst>
          </p:cNvPr>
          <p:cNvSpPr/>
          <p:nvPr/>
        </p:nvSpPr>
        <p:spPr>
          <a:xfrm>
            <a:off x="6378734" y="5516059"/>
            <a:ext cx="586740" cy="1638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rrow: Left-Right 21">
            <a:extLst>
              <a:ext uri="{FF2B5EF4-FFF2-40B4-BE49-F238E27FC236}">
                <a16:creationId xmlns:a16="http://schemas.microsoft.com/office/drawing/2014/main" id="{357826DF-ECF6-49C4-8989-F95B11494628}"/>
              </a:ext>
            </a:extLst>
          </p:cNvPr>
          <p:cNvSpPr/>
          <p:nvPr/>
        </p:nvSpPr>
        <p:spPr>
          <a:xfrm rot="20738921">
            <a:off x="6241574" y="5175323"/>
            <a:ext cx="861060" cy="14097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6" name="Graphic 25" descr="Syncing cloud">
            <a:extLst>
              <a:ext uri="{FF2B5EF4-FFF2-40B4-BE49-F238E27FC236}">
                <a16:creationId xmlns:a16="http://schemas.microsoft.com/office/drawing/2014/main" id="{D6DA9D49-7A39-CB7E-9970-7F8BA1F3060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48996" y="5918622"/>
            <a:ext cx="655320" cy="655320"/>
          </a:xfrm>
          <a:prstGeom prst="rect">
            <a:avLst/>
          </a:prstGeom>
        </p:spPr>
      </p:pic>
      <p:sp>
        <p:nvSpPr>
          <p:cNvPr id="27" name="Arrow: Left-Right 26">
            <a:extLst>
              <a:ext uri="{FF2B5EF4-FFF2-40B4-BE49-F238E27FC236}">
                <a16:creationId xmlns:a16="http://schemas.microsoft.com/office/drawing/2014/main" id="{5C8E50DA-6D19-2AFE-34E2-2980043E15A2}"/>
              </a:ext>
            </a:extLst>
          </p:cNvPr>
          <p:cNvSpPr/>
          <p:nvPr/>
        </p:nvSpPr>
        <p:spPr>
          <a:xfrm rot="1454367">
            <a:off x="6196954" y="5899838"/>
            <a:ext cx="861060" cy="14097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2C4CFB21-A5DE-5C85-52EC-0DD8EA7D9890}"/>
              </a:ext>
            </a:extLst>
          </p:cNvPr>
          <p:cNvSpPr/>
          <p:nvPr/>
        </p:nvSpPr>
        <p:spPr>
          <a:xfrm>
            <a:off x="4928434" y="5551432"/>
            <a:ext cx="268113" cy="2046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EED7C-CB70-A39F-EFAB-A5B2B0939A1D}"/>
              </a:ext>
            </a:extLst>
          </p:cNvPr>
          <p:cNvSpPr/>
          <p:nvPr/>
        </p:nvSpPr>
        <p:spPr>
          <a:xfrm>
            <a:off x="4054007" y="5420809"/>
            <a:ext cx="847112" cy="44958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CALC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D486E64A-4969-1BEE-D5CD-31AD5F46D63D}"/>
              </a:ext>
            </a:extLst>
          </p:cNvPr>
          <p:cNvSpPr/>
          <p:nvPr/>
        </p:nvSpPr>
        <p:spPr>
          <a:xfrm>
            <a:off x="3768719" y="5580829"/>
            <a:ext cx="234631" cy="1752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ABEC48-D6D1-2E7D-E560-3530E8D8CFCF}"/>
              </a:ext>
            </a:extLst>
          </p:cNvPr>
          <p:cNvSpPr txBox="1"/>
          <p:nvPr/>
        </p:nvSpPr>
        <p:spPr>
          <a:xfrm>
            <a:off x="1100137" y="6290240"/>
            <a:ext cx="1430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Trading File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3A6CDB-C061-7B79-1A51-AA8425CE6082}"/>
              </a:ext>
            </a:extLst>
          </p:cNvPr>
          <p:cNvSpPr txBox="1"/>
          <p:nvPr/>
        </p:nvSpPr>
        <p:spPr>
          <a:xfrm>
            <a:off x="6961164" y="4177900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Application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4187C5-B168-6F97-7E67-B1D85D1FF0E0}"/>
              </a:ext>
            </a:extLst>
          </p:cNvPr>
          <p:cNvSpPr txBox="1"/>
          <p:nvPr/>
        </p:nvSpPr>
        <p:spPr>
          <a:xfrm>
            <a:off x="7856220" y="4886142"/>
            <a:ext cx="2191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Point Redemption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6F484F-273C-21D0-8AAB-A6A2606AED91}"/>
              </a:ext>
            </a:extLst>
          </p:cNvPr>
          <p:cNvSpPr txBox="1"/>
          <p:nvPr/>
        </p:nvSpPr>
        <p:spPr>
          <a:xfrm>
            <a:off x="7867984" y="5460933"/>
            <a:ext cx="2741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Point email notification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C2C989-CEF9-0E8B-CF5B-59AE9E2038E4}"/>
              </a:ext>
            </a:extLst>
          </p:cNvPr>
          <p:cNvSpPr txBox="1"/>
          <p:nvPr/>
        </p:nvSpPr>
        <p:spPr>
          <a:xfrm>
            <a:off x="7723387" y="6115288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Point Query API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72F8A1-A3A0-17FB-C7CE-C6046C25B1F9}"/>
              </a:ext>
            </a:extLst>
          </p:cNvPr>
          <p:cNvSpPr txBox="1"/>
          <p:nvPr/>
        </p:nvSpPr>
        <p:spPr>
          <a:xfrm>
            <a:off x="3532832" y="5028273"/>
            <a:ext cx="1782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Point Creation</a:t>
            </a:r>
          </a:p>
        </p:txBody>
      </p:sp>
    </p:spTree>
    <p:extLst>
      <p:ext uri="{BB962C8B-B14F-4D97-AF65-F5344CB8AC3E}">
        <p14:creationId xmlns:p14="http://schemas.microsoft.com/office/powerpoint/2010/main" val="967169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91AF8-7F84-62F3-6266-1A8258470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K2 workflow Deposit/Withdraw</a:t>
            </a:r>
          </a:p>
        </p:txBody>
      </p:sp>
      <p:pic>
        <p:nvPicPr>
          <p:cNvPr id="4" name="Graphic 3" descr="Man">
            <a:extLst>
              <a:ext uri="{FF2B5EF4-FFF2-40B4-BE49-F238E27FC236}">
                <a16:creationId xmlns:a16="http://schemas.microsoft.com/office/drawing/2014/main" id="{7EC27145-010C-F0B9-999A-E53E564DDD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616" y="2968514"/>
            <a:ext cx="673846" cy="673846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8CF869-AEEE-F906-5AED-3C5FAAC1BDF8}"/>
              </a:ext>
            </a:extLst>
          </p:cNvPr>
          <p:cNvSpPr/>
          <p:nvPr/>
        </p:nvSpPr>
        <p:spPr>
          <a:xfrm>
            <a:off x="866310" y="3013710"/>
            <a:ext cx="1348740" cy="42672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Deposit</a:t>
            </a:r>
          </a:p>
        </p:txBody>
      </p:sp>
      <p:pic>
        <p:nvPicPr>
          <p:cNvPr id="7" name="Graphic 6" descr="Bank">
            <a:extLst>
              <a:ext uri="{FF2B5EF4-FFF2-40B4-BE49-F238E27FC236}">
                <a16:creationId xmlns:a16="http://schemas.microsoft.com/office/drawing/2014/main" id="{1B5148AE-FB44-17BF-5DF1-88AE5B7A04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45546" y="2727960"/>
            <a:ext cx="914400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4D38544-E80C-7F27-E54C-7CDC11AEA503}"/>
              </a:ext>
            </a:extLst>
          </p:cNvPr>
          <p:cNvSpPr/>
          <p:nvPr/>
        </p:nvSpPr>
        <p:spPr>
          <a:xfrm>
            <a:off x="2920103" y="3817620"/>
            <a:ext cx="765286" cy="632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Form</a:t>
            </a:r>
          </a:p>
        </p:txBody>
      </p:sp>
      <p:pic>
        <p:nvPicPr>
          <p:cNvPr id="11" name="Graphic 10" descr="Database">
            <a:extLst>
              <a:ext uri="{FF2B5EF4-FFF2-40B4-BE49-F238E27FC236}">
                <a16:creationId xmlns:a16="http://schemas.microsoft.com/office/drawing/2014/main" id="{CAAAC82A-38AE-5999-A3B3-1CC3CC442B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4986" y="3158490"/>
            <a:ext cx="914400" cy="914400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42316C6E-FB4E-1A8F-082F-D801F91B7E8D}"/>
              </a:ext>
            </a:extLst>
          </p:cNvPr>
          <p:cNvSpPr/>
          <p:nvPr/>
        </p:nvSpPr>
        <p:spPr>
          <a:xfrm>
            <a:off x="2348787" y="3108960"/>
            <a:ext cx="511131" cy="22098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Graphic 13" descr="Call center">
            <a:extLst>
              <a:ext uri="{FF2B5EF4-FFF2-40B4-BE49-F238E27FC236}">
                <a16:creationId xmlns:a16="http://schemas.microsoft.com/office/drawing/2014/main" id="{6251DE97-FF49-D020-1BB8-A739B2313EA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01554" y="3066079"/>
            <a:ext cx="995381" cy="995381"/>
          </a:xfrm>
          <a:prstGeom prst="rect">
            <a:avLst/>
          </a:prstGeom>
        </p:spPr>
      </p:pic>
      <p:sp>
        <p:nvSpPr>
          <p:cNvPr id="15" name="Callout: Right Arrow 14">
            <a:extLst>
              <a:ext uri="{FF2B5EF4-FFF2-40B4-BE49-F238E27FC236}">
                <a16:creationId xmlns:a16="http://schemas.microsoft.com/office/drawing/2014/main" id="{BE94B381-A6B6-EE2D-70C7-925AABCAEA41}"/>
              </a:ext>
            </a:extLst>
          </p:cNvPr>
          <p:cNvSpPr/>
          <p:nvPr/>
        </p:nvSpPr>
        <p:spPr>
          <a:xfrm>
            <a:off x="4391098" y="3406156"/>
            <a:ext cx="457200" cy="632460"/>
          </a:xfrm>
          <a:prstGeom prst="rightArrowCallout">
            <a:avLst>
              <a:gd name="adj1" fmla="val 25000"/>
              <a:gd name="adj2" fmla="val 25000"/>
              <a:gd name="adj3" fmla="val 18333"/>
              <a:gd name="adj4" fmla="val 4497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3ED9A3B-8ECC-684F-5FC4-3E3AC420BA01}"/>
              </a:ext>
            </a:extLst>
          </p:cNvPr>
          <p:cNvSpPr/>
          <p:nvPr/>
        </p:nvSpPr>
        <p:spPr>
          <a:xfrm>
            <a:off x="872035" y="3975524"/>
            <a:ext cx="1348740" cy="4267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Withdraw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E7261ED-855A-32E9-2C4F-848D41B53D5B}"/>
              </a:ext>
            </a:extLst>
          </p:cNvPr>
          <p:cNvSpPr/>
          <p:nvPr/>
        </p:nvSpPr>
        <p:spPr>
          <a:xfrm>
            <a:off x="2387751" y="4061460"/>
            <a:ext cx="403860" cy="2362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FDFFFE70-BDC8-414F-40ED-64CB3A4909C9}"/>
              </a:ext>
            </a:extLst>
          </p:cNvPr>
          <p:cNvSpPr/>
          <p:nvPr/>
        </p:nvSpPr>
        <p:spPr>
          <a:xfrm rot="1555189">
            <a:off x="2344602" y="3611760"/>
            <a:ext cx="477137" cy="279081"/>
          </a:xfrm>
          <a:prstGeom prst="rightArrow">
            <a:avLst>
              <a:gd name="adj1" fmla="val 42507"/>
              <a:gd name="adj2" fmla="val 50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FF6EA2-77BF-74E2-9907-A14CDC96101A}"/>
              </a:ext>
            </a:extLst>
          </p:cNvPr>
          <p:cNvSpPr/>
          <p:nvPr/>
        </p:nvSpPr>
        <p:spPr>
          <a:xfrm>
            <a:off x="9451353" y="3139440"/>
            <a:ext cx="1127760" cy="9067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Trading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2A118F1A-9C2A-228C-BFCB-9C50B4AFABA6}"/>
              </a:ext>
            </a:extLst>
          </p:cNvPr>
          <p:cNvSpPr/>
          <p:nvPr/>
        </p:nvSpPr>
        <p:spPr>
          <a:xfrm>
            <a:off x="6865981" y="3527435"/>
            <a:ext cx="415221" cy="2729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049E2F97-E710-9651-B5C7-F0D96F3A94A6}"/>
              </a:ext>
            </a:extLst>
          </p:cNvPr>
          <p:cNvSpPr/>
          <p:nvPr/>
        </p:nvSpPr>
        <p:spPr>
          <a:xfrm>
            <a:off x="8484738" y="3448050"/>
            <a:ext cx="415221" cy="2729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112A01-F247-25D6-2A01-F41DF0009100}"/>
              </a:ext>
            </a:extLst>
          </p:cNvPr>
          <p:cNvSpPr txBox="1"/>
          <p:nvPr/>
        </p:nvSpPr>
        <p:spPr>
          <a:xfrm>
            <a:off x="4945235" y="4052628"/>
            <a:ext cx="16385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Check and</a:t>
            </a:r>
          </a:p>
          <a:p>
            <a:r>
              <a:rPr lang="en-GB" dirty="0"/>
              <a:t>Manual Entry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BCB7F43-0AB4-CDCF-8048-DF1DD0354BD6}"/>
              </a:ext>
            </a:extLst>
          </p:cNvPr>
          <p:cNvSpPr/>
          <p:nvPr/>
        </p:nvSpPr>
        <p:spPr>
          <a:xfrm>
            <a:off x="844561" y="5031254"/>
            <a:ext cx="1348740" cy="42672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Deposit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09C0E94-D987-5F21-1A54-4035150BA1B0}"/>
              </a:ext>
            </a:extLst>
          </p:cNvPr>
          <p:cNvSpPr/>
          <p:nvPr/>
        </p:nvSpPr>
        <p:spPr>
          <a:xfrm>
            <a:off x="844561" y="5724627"/>
            <a:ext cx="1348740" cy="4267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Withdraw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084B357-B200-37BF-9F65-3B6BB6D7FA8E}"/>
              </a:ext>
            </a:extLst>
          </p:cNvPr>
          <p:cNvSpPr/>
          <p:nvPr/>
        </p:nvSpPr>
        <p:spPr>
          <a:xfrm>
            <a:off x="2818736" y="5012408"/>
            <a:ext cx="765286" cy="11714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Form</a:t>
            </a:r>
          </a:p>
        </p:txBody>
      </p:sp>
      <p:pic>
        <p:nvPicPr>
          <p:cNvPr id="27" name="Graphic 26" descr="Man">
            <a:extLst>
              <a:ext uri="{FF2B5EF4-FFF2-40B4-BE49-F238E27FC236}">
                <a16:creationId xmlns:a16="http://schemas.microsoft.com/office/drawing/2014/main" id="{74474170-68F8-738E-ADCD-E9FD6B794F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616" y="5244614"/>
            <a:ext cx="673846" cy="673846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6DBF646-504A-0A58-0F18-B4D4487AD89E}"/>
              </a:ext>
            </a:extLst>
          </p:cNvPr>
          <p:cNvCxnSpPr/>
          <p:nvPr/>
        </p:nvCxnSpPr>
        <p:spPr>
          <a:xfrm>
            <a:off x="373380" y="4762500"/>
            <a:ext cx="10782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4" name="Picture 6" descr="K2 คืออะไร? มีประโยชน์ยังไง?. หลายครั้งที่ได้คุยกับเพื่อนหรือคนรู้จักท… |  by Ton Wanchai | Medium">
            <a:extLst>
              <a:ext uri="{FF2B5EF4-FFF2-40B4-BE49-F238E27FC236}">
                <a16:creationId xmlns:a16="http://schemas.microsoft.com/office/drawing/2014/main" id="{950FE1E1-6699-0F67-2256-3D7A932B0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4805" y="5494176"/>
            <a:ext cx="1088884" cy="592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Graphic 30" descr="Cloud">
            <a:extLst>
              <a:ext uri="{FF2B5EF4-FFF2-40B4-BE49-F238E27FC236}">
                <a16:creationId xmlns:a16="http://schemas.microsoft.com/office/drawing/2014/main" id="{F89C737A-31D6-5FFA-44F6-4086B5DE7F8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37434" y="4785800"/>
            <a:ext cx="700585" cy="700585"/>
          </a:xfrm>
          <a:prstGeom prst="rect">
            <a:avLst/>
          </a:prstGeom>
        </p:spPr>
      </p:pic>
      <p:pic>
        <p:nvPicPr>
          <p:cNvPr id="2048" name="Graphic 2047" descr="Database">
            <a:extLst>
              <a:ext uri="{FF2B5EF4-FFF2-40B4-BE49-F238E27FC236}">
                <a16:creationId xmlns:a16="http://schemas.microsoft.com/office/drawing/2014/main" id="{3131AE35-0951-9A90-9014-A23E2B46B9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25369" y="5151703"/>
            <a:ext cx="914400" cy="914400"/>
          </a:xfrm>
          <a:prstGeom prst="rect">
            <a:avLst/>
          </a:prstGeom>
        </p:spPr>
      </p:pic>
      <p:sp>
        <p:nvSpPr>
          <p:cNvPr id="2049" name="Rectangle 2048">
            <a:extLst>
              <a:ext uri="{FF2B5EF4-FFF2-40B4-BE49-F238E27FC236}">
                <a16:creationId xmlns:a16="http://schemas.microsoft.com/office/drawing/2014/main" id="{702D54DC-091D-6ABF-BEAD-31C483F21FAF}"/>
              </a:ext>
            </a:extLst>
          </p:cNvPr>
          <p:cNvSpPr/>
          <p:nvPr/>
        </p:nvSpPr>
        <p:spPr>
          <a:xfrm>
            <a:off x="10007359" y="5151409"/>
            <a:ext cx="1127760" cy="9067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Trading</a:t>
            </a:r>
          </a:p>
        </p:txBody>
      </p:sp>
      <p:pic>
        <p:nvPicPr>
          <p:cNvPr id="2051" name="Graphic 2050" descr="Bank">
            <a:extLst>
              <a:ext uri="{FF2B5EF4-FFF2-40B4-BE49-F238E27FC236}">
                <a16:creationId xmlns:a16="http://schemas.microsoft.com/office/drawing/2014/main" id="{97C42472-90A6-4B63-FD4D-1EF01F3D1C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37400" y="4700086"/>
            <a:ext cx="662335" cy="662335"/>
          </a:xfrm>
          <a:prstGeom prst="rect">
            <a:avLst/>
          </a:prstGeom>
        </p:spPr>
      </p:pic>
      <p:sp>
        <p:nvSpPr>
          <p:cNvPr id="2053" name="Arrow: Right 2052">
            <a:extLst>
              <a:ext uri="{FF2B5EF4-FFF2-40B4-BE49-F238E27FC236}">
                <a16:creationId xmlns:a16="http://schemas.microsoft.com/office/drawing/2014/main" id="{079D5C00-9087-4BC8-C431-11AE6CB1C948}"/>
              </a:ext>
            </a:extLst>
          </p:cNvPr>
          <p:cNvSpPr/>
          <p:nvPr/>
        </p:nvSpPr>
        <p:spPr>
          <a:xfrm>
            <a:off x="2236400" y="5134124"/>
            <a:ext cx="511131" cy="22098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55" name="Arrow: Right 2054">
            <a:extLst>
              <a:ext uri="{FF2B5EF4-FFF2-40B4-BE49-F238E27FC236}">
                <a16:creationId xmlns:a16="http://schemas.microsoft.com/office/drawing/2014/main" id="{8EB527DE-5005-5065-D436-1A25915C64C4}"/>
              </a:ext>
            </a:extLst>
          </p:cNvPr>
          <p:cNvSpPr/>
          <p:nvPr/>
        </p:nvSpPr>
        <p:spPr>
          <a:xfrm>
            <a:off x="3726088" y="5061538"/>
            <a:ext cx="511131" cy="22098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56" name="Arrow: Right 2055">
            <a:extLst>
              <a:ext uri="{FF2B5EF4-FFF2-40B4-BE49-F238E27FC236}">
                <a16:creationId xmlns:a16="http://schemas.microsoft.com/office/drawing/2014/main" id="{8C2F657D-80FC-5976-A127-7A18DFEE0A2E}"/>
              </a:ext>
            </a:extLst>
          </p:cNvPr>
          <p:cNvSpPr/>
          <p:nvPr/>
        </p:nvSpPr>
        <p:spPr>
          <a:xfrm>
            <a:off x="5034027" y="4951971"/>
            <a:ext cx="427660" cy="12295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57" name="Arrow: Right 2056">
            <a:extLst>
              <a:ext uri="{FF2B5EF4-FFF2-40B4-BE49-F238E27FC236}">
                <a16:creationId xmlns:a16="http://schemas.microsoft.com/office/drawing/2014/main" id="{44193E03-E430-302F-F371-63E78D1A254F}"/>
              </a:ext>
            </a:extLst>
          </p:cNvPr>
          <p:cNvSpPr/>
          <p:nvPr/>
        </p:nvSpPr>
        <p:spPr>
          <a:xfrm rot="3689520">
            <a:off x="4607031" y="5384931"/>
            <a:ext cx="299549" cy="210175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58" name="Graphic 2057" descr="Cloud">
            <a:extLst>
              <a:ext uri="{FF2B5EF4-FFF2-40B4-BE49-F238E27FC236}">
                <a16:creationId xmlns:a16="http://schemas.microsoft.com/office/drawing/2014/main" id="{4B7AEAD4-B25F-5B66-A63B-E65D4E28FAA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840475" y="5234147"/>
            <a:ext cx="709000" cy="709000"/>
          </a:xfrm>
          <a:prstGeom prst="rect">
            <a:avLst/>
          </a:prstGeom>
        </p:spPr>
      </p:pic>
      <p:sp>
        <p:nvSpPr>
          <p:cNvPr id="2059" name="Arrow: Right 2058">
            <a:extLst>
              <a:ext uri="{FF2B5EF4-FFF2-40B4-BE49-F238E27FC236}">
                <a16:creationId xmlns:a16="http://schemas.microsoft.com/office/drawing/2014/main" id="{71BEE6E1-3596-4C0F-B785-D3679C948CF0}"/>
              </a:ext>
            </a:extLst>
          </p:cNvPr>
          <p:cNvSpPr/>
          <p:nvPr/>
        </p:nvSpPr>
        <p:spPr>
          <a:xfrm>
            <a:off x="6665585" y="5575493"/>
            <a:ext cx="255972" cy="192593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60" name="Arrow: Right 2059">
            <a:extLst>
              <a:ext uri="{FF2B5EF4-FFF2-40B4-BE49-F238E27FC236}">
                <a16:creationId xmlns:a16="http://schemas.microsoft.com/office/drawing/2014/main" id="{AF10E29A-8275-E4FA-B9DD-755AAFDC5A0A}"/>
              </a:ext>
            </a:extLst>
          </p:cNvPr>
          <p:cNvSpPr/>
          <p:nvPr/>
        </p:nvSpPr>
        <p:spPr>
          <a:xfrm>
            <a:off x="8569397" y="5336903"/>
            <a:ext cx="330562" cy="20701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61" name="Arrow: Right 2060">
            <a:extLst>
              <a:ext uri="{FF2B5EF4-FFF2-40B4-BE49-F238E27FC236}">
                <a16:creationId xmlns:a16="http://schemas.microsoft.com/office/drawing/2014/main" id="{9837DFD8-55F3-2BBC-ADF1-4F45729E58E0}"/>
              </a:ext>
            </a:extLst>
          </p:cNvPr>
          <p:cNvSpPr/>
          <p:nvPr/>
        </p:nvSpPr>
        <p:spPr>
          <a:xfrm>
            <a:off x="9597732" y="5312851"/>
            <a:ext cx="330562" cy="20701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62" name="Arrow: Right 2061">
            <a:extLst>
              <a:ext uri="{FF2B5EF4-FFF2-40B4-BE49-F238E27FC236}">
                <a16:creationId xmlns:a16="http://schemas.microsoft.com/office/drawing/2014/main" id="{2E58191F-EB14-EE68-1EC7-64EACE42C7F7}"/>
              </a:ext>
            </a:extLst>
          </p:cNvPr>
          <p:cNvSpPr/>
          <p:nvPr/>
        </p:nvSpPr>
        <p:spPr>
          <a:xfrm>
            <a:off x="2264506" y="5821969"/>
            <a:ext cx="403860" cy="2362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63" name="Arrow: Right 2062">
            <a:extLst>
              <a:ext uri="{FF2B5EF4-FFF2-40B4-BE49-F238E27FC236}">
                <a16:creationId xmlns:a16="http://schemas.microsoft.com/office/drawing/2014/main" id="{EF790C93-96A9-7107-89F6-33861CD532C7}"/>
              </a:ext>
            </a:extLst>
          </p:cNvPr>
          <p:cNvSpPr/>
          <p:nvPr/>
        </p:nvSpPr>
        <p:spPr>
          <a:xfrm>
            <a:off x="3706583" y="5819663"/>
            <a:ext cx="720346" cy="1934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64" name="Arrow: Right 2063">
            <a:extLst>
              <a:ext uri="{FF2B5EF4-FFF2-40B4-BE49-F238E27FC236}">
                <a16:creationId xmlns:a16="http://schemas.microsoft.com/office/drawing/2014/main" id="{CF42B537-7FAE-C98E-9DFB-B09CEBECEB45}"/>
              </a:ext>
            </a:extLst>
          </p:cNvPr>
          <p:cNvSpPr/>
          <p:nvPr/>
        </p:nvSpPr>
        <p:spPr>
          <a:xfrm>
            <a:off x="6655861" y="5843831"/>
            <a:ext cx="255972" cy="1558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65" name="Arrow: Right 2064">
            <a:extLst>
              <a:ext uri="{FF2B5EF4-FFF2-40B4-BE49-F238E27FC236}">
                <a16:creationId xmlns:a16="http://schemas.microsoft.com/office/drawing/2014/main" id="{A3DA08DB-74E9-5392-36ED-F1FD8D87C7BA}"/>
              </a:ext>
            </a:extLst>
          </p:cNvPr>
          <p:cNvSpPr/>
          <p:nvPr/>
        </p:nvSpPr>
        <p:spPr>
          <a:xfrm>
            <a:off x="8581156" y="5650781"/>
            <a:ext cx="307043" cy="2070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66" name="Arrow: Right 2065">
            <a:extLst>
              <a:ext uri="{FF2B5EF4-FFF2-40B4-BE49-F238E27FC236}">
                <a16:creationId xmlns:a16="http://schemas.microsoft.com/office/drawing/2014/main" id="{1AFF90A6-AA95-54A8-6414-7EE59776504E}"/>
              </a:ext>
            </a:extLst>
          </p:cNvPr>
          <p:cNvSpPr/>
          <p:nvPr/>
        </p:nvSpPr>
        <p:spPr>
          <a:xfrm>
            <a:off x="9609324" y="5671790"/>
            <a:ext cx="307043" cy="2070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67" name="TextBox 2066">
            <a:extLst>
              <a:ext uri="{FF2B5EF4-FFF2-40B4-BE49-F238E27FC236}">
                <a16:creationId xmlns:a16="http://schemas.microsoft.com/office/drawing/2014/main" id="{A2C432DD-334E-8CDB-2781-62388B6B1DFA}"/>
              </a:ext>
            </a:extLst>
          </p:cNvPr>
          <p:cNvSpPr txBox="1"/>
          <p:nvPr/>
        </p:nvSpPr>
        <p:spPr>
          <a:xfrm>
            <a:off x="4085968" y="6122260"/>
            <a:ext cx="3106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Async Service Model and Business logic and API</a:t>
            </a:r>
          </a:p>
        </p:txBody>
      </p:sp>
      <p:pic>
        <p:nvPicPr>
          <p:cNvPr id="3" name="Graphic 2" descr="Cloud">
            <a:extLst>
              <a:ext uri="{FF2B5EF4-FFF2-40B4-BE49-F238E27FC236}">
                <a16:creationId xmlns:a16="http://schemas.microsoft.com/office/drawing/2014/main" id="{BD769A02-64A3-9AA1-75E6-B6ED9998799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79856" y="5496688"/>
            <a:ext cx="700585" cy="700585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F2E44F4F-BCC7-7C35-6E6A-03D0CB8B1384}"/>
              </a:ext>
            </a:extLst>
          </p:cNvPr>
          <p:cNvSpPr/>
          <p:nvPr/>
        </p:nvSpPr>
        <p:spPr>
          <a:xfrm rot="10800000">
            <a:off x="5077290" y="5134124"/>
            <a:ext cx="427660" cy="12295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Graphic 12" descr="Cloud">
            <a:extLst>
              <a:ext uri="{FF2B5EF4-FFF2-40B4-BE49-F238E27FC236}">
                <a16:creationId xmlns:a16="http://schemas.microsoft.com/office/drawing/2014/main" id="{3825A695-6BEF-7326-8F88-AB58BA7955E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51365" y="5315071"/>
            <a:ext cx="700585" cy="700585"/>
          </a:xfrm>
          <a:prstGeom prst="rect">
            <a:avLst/>
          </a:prstGeom>
        </p:spPr>
      </p:pic>
      <p:sp>
        <p:nvSpPr>
          <p:cNvPr id="25" name="Arrow: Right 24">
            <a:extLst>
              <a:ext uri="{FF2B5EF4-FFF2-40B4-BE49-F238E27FC236}">
                <a16:creationId xmlns:a16="http://schemas.microsoft.com/office/drawing/2014/main" id="{84D215A6-7B45-AEB8-5AD0-92E05535AE2C}"/>
              </a:ext>
            </a:extLst>
          </p:cNvPr>
          <p:cNvSpPr/>
          <p:nvPr/>
        </p:nvSpPr>
        <p:spPr>
          <a:xfrm>
            <a:off x="7584503" y="5361072"/>
            <a:ext cx="255972" cy="192593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0AA58E87-CB99-592B-06DB-2430D3E0F8B2}"/>
              </a:ext>
            </a:extLst>
          </p:cNvPr>
          <p:cNvSpPr/>
          <p:nvPr/>
        </p:nvSpPr>
        <p:spPr>
          <a:xfrm>
            <a:off x="7620670" y="5646694"/>
            <a:ext cx="255972" cy="1558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50" name="Rectangle 2049">
            <a:extLst>
              <a:ext uri="{FF2B5EF4-FFF2-40B4-BE49-F238E27FC236}">
                <a16:creationId xmlns:a16="http://schemas.microsoft.com/office/drawing/2014/main" id="{51E7227B-9EAB-B37B-89BF-A9A884652378}"/>
              </a:ext>
            </a:extLst>
          </p:cNvPr>
          <p:cNvSpPr/>
          <p:nvPr/>
        </p:nvSpPr>
        <p:spPr>
          <a:xfrm>
            <a:off x="7192635" y="6193028"/>
            <a:ext cx="2435830" cy="38697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Monitor/Reporting</a:t>
            </a:r>
          </a:p>
        </p:txBody>
      </p:sp>
      <p:pic>
        <p:nvPicPr>
          <p:cNvPr id="2052" name="Graphic 2051" descr="Call center">
            <a:extLst>
              <a:ext uri="{FF2B5EF4-FFF2-40B4-BE49-F238E27FC236}">
                <a16:creationId xmlns:a16="http://schemas.microsoft.com/office/drawing/2014/main" id="{D58C1C30-94CB-3C29-3C5A-949B57D9388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76419" y="6142727"/>
            <a:ext cx="572852" cy="572852"/>
          </a:xfrm>
          <a:prstGeom prst="rect">
            <a:avLst/>
          </a:prstGeom>
        </p:spPr>
      </p:pic>
      <p:sp>
        <p:nvSpPr>
          <p:cNvPr id="2068" name="Arrow: Pentagon 2067">
            <a:extLst>
              <a:ext uri="{FF2B5EF4-FFF2-40B4-BE49-F238E27FC236}">
                <a16:creationId xmlns:a16="http://schemas.microsoft.com/office/drawing/2014/main" id="{12E9D7C7-8AA7-D8C9-B73F-9C8818567DF4}"/>
              </a:ext>
            </a:extLst>
          </p:cNvPr>
          <p:cNvSpPr/>
          <p:nvPr/>
        </p:nvSpPr>
        <p:spPr>
          <a:xfrm>
            <a:off x="5259506" y="5705693"/>
            <a:ext cx="427661" cy="282300"/>
          </a:xfrm>
          <a:prstGeom prst="homePlat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4120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11024-C3FE-4FF8-5C69-CF8170F3E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 Notes</a:t>
            </a:r>
          </a:p>
        </p:txBody>
      </p:sp>
      <p:pic>
        <p:nvPicPr>
          <p:cNvPr id="1026" name="Picture 2" descr="Setting Up a Blog with SharePoint 2010">
            <a:extLst>
              <a:ext uri="{FF2B5EF4-FFF2-40B4-BE49-F238E27FC236}">
                <a16:creationId xmlns:a16="http://schemas.microsoft.com/office/drawing/2014/main" id="{E069879F-F41D-41F9-A0A3-4939EFEE0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940" y="2768823"/>
            <a:ext cx="2838450" cy="141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35D8BBA-74A0-5DF5-FDDD-0F2279671DD6}"/>
              </a:ext>
            </a:extLst>
          </p:cNvPr>
          <p:cNvSpPr/>
          <p:nvPr/>
        </p:nvSpPr>
        <p:spPr>
          <a:xfrm>
            <a:off x="1661160" y="3119344"/>
            <a:ext cx="2232660" cy="902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Application</a:t>
            </a:r>
          </a:p>
          <a:p>
            <a:pPr algn="ctr"/>
            <a:r>
              <a:rPr lang="en-GB" dirty="0"/>
              <a:t>Contract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AF96C8-C491-1889-D521-68119D2732E1}"/>
              </a:ext>
            </a:extLst>
          </p:cNvPr>
          <p:cNvSpPr/>
          <p:nvPr/>
        </p:nvSpPr>
        <p:spPr>
          <a:xfrm>
            <a:off x="7764780" y="3119344"/>
            <a:ext cx="2232660" cy="90273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Document workflow</a:t>
            </a:r>
          </a:p>
        </p:txBody>
      </p:sp>
      <p:pic>
        <p:nvPicPr>
          <p:cNvPr id="8" name="Graphic 7" descr="Man">
            <a:extLst>
              <a:ext uri="{FF2B5EF4-FFF2-40B4-BE49-F238E27FC236}">
                <a16:creationId xmlns:a16="http://schemas.microsoft.com/office/drawing/2014/main" id="{CD227622-3E9D-FBCF-BD45-EBD74741E5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351" y="3021236"/>
            <a:ext cx="914400" cy="91440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4BC1F69-40A1-57A8-D4CB-2E923E3BE475}"/>
              </a:ext>
            </a:extLst>
          </p:cNvPr>
          <p:cNvSpPr/>
          <p:nvPr/>
        </p:nvSpPr>
        <p:spPr>
          <a:xfrm>
            <a:off x="4198620" y="3360420"/>
            <a:ext cx="441960" cy="266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394903E-23D4-009D-4E94-011FCC99FFB6}"/>
              </a:ext>
            </a:extLst>
          </p:cNvPr>
          <p:cNvSpPr/>
          <p:nvPr/>
        </p:nvSpPr>
        <p:spPr>
          <a:xfrm>
            <a:off x="7090410" y="3304010"/>
            <a:ext cx="441960" cy="266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11" descr="Contract RTL">
            <a:extLst>
              <a:ext uri="{FF2B5EF4-FFF2-40B4-BE49-F238E27FC236}">
                <a16:creationId xmlns:a16="http://schemas.microsoft.com/office/drawing/2014/main" id="{83EEBEAC-639D-B9FB-99F6-EFBC6CE908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23910" y="4655820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7B5120B-782B-0A75-89DC-E8F9451D9CFB}"/>
              </a:ext>
            </a:extLst>
          </p:cNvPr>
          <p:cNvSpPr txBox="1"/>
          <p:nvPr/>
        </p:nvSpPr>
        <p:spPr>
          <a:xfrm>
            <a:off x="7976856" y="5699666"/>
            <a:ext cx="1808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Filing Contract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516302-60A0-573E-B89F-CD8ACB8E370E}"/>
              </a:ext>
            </a:extLst>
          </p:cNvPr>
          <p:cNvSpPr txBox="1"/>
          <p:nvPr/>
        </p:nvSpPr>
        <p:spPr>
          <a:xfrm>
            <a:off x="4813527" y="4538131"/>
            <a:ext cx="1874231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Design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90C9CF-53BD-F89C-C8B4-F85834737A5B}"/>
              </a:ext>
            </a:extLst>
          </p:cNvPr>
          <p:cNvSpPr txBox="1"/>
          <p:nvPr/>
        </p:nvSpPr>
        <p:spPr>
          <a:xfrm>
            <a:off x="5122899" y="4987553"/>
            <a:ext cx="1024639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Coding</a:t>
            </a:r>
          </a:p>
        </p:txBody>
      </p:sp>
    </p:spTree>
    <p:extLst>
      <p:ext uri="{BB962C8B-B14F-4D97-AF65-F5344CB8AC3E}">
        <p14:creationId xmlns:p14="http://schemas.microsoft.com/office/powerpoint/2010/main" val="2567804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EF971-E4F5-E7B6-C7C3-66540C1F1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Customer Info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33FB8400-F6A4-5527-7D34-6699408713ED}"/>
              </a:ext>
            </a:extLst>
          </p:cNvPr>
          <p:cNvSpPr/>
          <p:nvPr/>
        </p:nvSpPr>
        <p:spPr>
          <a:xfrm>
            <a:off x="1668780" y="2804159"/>
            <a:ext cx="1128257" cy="970729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Back End Trading</a:t>
            </a:r>
          </a:p>
        </p:txBody>
      </p:sp>
      <p:pic>
        <p:nvPicPr>
          <p:cNvPr id="5" name="Graphic 4" descr="Document">
            <a:extLst>
              <a:ext uri="{FF2B5EF4-FFF2-40B4-BE49-F238E27FC236}">
                <a16:creationId xmlns:a16="http://schemas.microsoft.com/office/drawing/2014/main" id="{F95A7944-17A6-308E-E9C4-7C5EF40A0A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50968" y="4225737"/>
            <a:ext cx="563880" cy="5638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D9A77E-313C-5BBA-69C8-C3C933BDEF77}"/>
              </a:ext>
            </a:extLst>
          </p:cNvPr>
          <p:cNvSpPr txBox="1"/>
          <p:nvPr/>
        </p:nvSpPr>
        <p:spPr>
          <a:xfrm>
            <a:off x="1473517" y="5055800"/>
            <a:ext cx="1688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Customer File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44EC9C-299B-F9C2-16C7-5AD7AA0A162D}"/>
              </a:ext>
            </a:extLst>
          </p:cNvPr>
          <p:cNvSpPr/>
          <p:nvPr/>
        </p:nvSpPr>
        <p:spPr>
          <a:xfrm>
            <a:off x="3815871" y="3776157"/>
            <a:ext cx="704873" cy="44958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ETL</a:t>
            </a:r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C6C15113-F92F-7800-CE33-63CD9CB782C0}"/>
              </a:ext>
            </a:extLst>
          </p:cNvPr>
          <p:cNvSpPr/>
          <p:nvPr/>
        </p:nvSpPr>
        <p:spPr>
          <a:xfrm>
            <a:off x="5535660" y="3515582"/>
            <a:ext cx="1345200" cy="970729"/>
          </a:xfrm>
          <a:prstGeom prst="ca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Consolidate</a:t>
            </a:r>
          </a:p>
          <a:p>
            <a:pPr algn="ctr"/>
            <a:r>
              <a:rPr lang="en-GB" sz="1400" dirty="0"/>
              <a:t>Data</a:t>
            </a:r>
          </a:p>
        </p:txBody>
      </p:sp>
      <p:pic>
        <p:nvPicPr>
          <p:cNvPr id="9" name="Graphic 8" descr="Browser window">
            <a:extLst>
              <a:ext uri="{FF2B5EF4-FFF2-40B4-BE49-F238E27FC236}">
                <a16:creationId xmlns:a16="http://schemas.microsoft.com/office/drawing/2014/main" id="{6063EC3C-CA07-0238-3017-F2277A22DF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10500" y="3101340"/>
            <a:ext cx="655320" cy="655320"/>
          </a:xfrm>
          <a:prstGeom prst="rect">
            <a:avLst/>
          </a:prstGeom>
        </p:spPr>
      </p:pic>
      <p:pic>
        <p:nvPicPr>
          <p:cNvPr id="10" name="Graphic 9" descr="Syncing cloud">
            <a:extLst>
              <a:ext uri="{FF2B5EF4-FFF2-40B4-BE49-F238E27FC236}">
                <a16:creationId xmlns:a16="http://schemas.microsoft.com/office/drawing/2014/main" id="{9637EC79-371C-A331-6DF9-F7B7C6FB06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10500" y="4078570"/>
            <a:ext cx="655320" cy="6553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1FB54D-8A53-D9FF-D937-633A9A262818}"/>
              </a:ext>
            </a:extLst>
          </p:cNvPr>
          <p:cNvSpPr txBox="1"/>
          <p:nvPr/>
        </p:nvSpPr>
        <p:spPr>
          <a:xfrm>
            <a:off x="7580471" y="2710016"/>
            <a:ext cx="128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Web form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DC05B9-4DB5-AD9C-4269-4261386DBF4B}"/>
              </a:ext>
            </a:extLst>
          </p:cNvPr>
          <p:cNvSpPr txBox="1"/>
          <p:nvPr/>
        </p:nvSpPr>
        <p:spPr>
          <a:xfrm>
            <a:off x="7461658" y="5055800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Web Service</a:t>
            </a:r>
          </a:p>
        </p:txBody>
      </p:sp>
      <p:pic>
        <p:nvPicPr>
          <p:cNvPr id="3074" name="Picture 2" descr="Innovation] Interactive Voice Response : IVR Call Center  เเบบใหม่ไฉไลกว่าเดิม - GlurGeek.Com">
            <a:extLst>
              <a:ext uri="{FF2B5EF4-FFF2-40B4-BE49-F238E27FC236}">
                <a16:creationId xmlns:a16="http://schemas.microsoft.com/office/drawing/2014/main" id="{563DFF68-93D1-65DD-C0BD-F0AEDD2EA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367" y="4636909"/>
            <a:ext cx="1454141" cy="1038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MC Outsourced Contact Center | ผู้นำด้านธุรกิจ Call Center อย่างครบวงจร">
            <a:extLst>
              <a:ext uri="{FF2B5EF4-FFF2-40B4-BE49-F238E27FC236}">
                <a16:creationId xmlns:a16="http://schemas.microsoft.com/office/drawing/2014/main" id="{972692BA-5550-E198-916B-4B0C33FDD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5976" y="2836013"/>
            <a:ext cx="1878317" cy="1038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95482D6C-CEA1-E91F-C6E1-03D3451D0611}"/>
              </a:ext>
            </a:extLst>
          </p:cNvPr>
          <p:cNvSpPr/>
          <p:nvPr/>
        </p:nvSpPr>
        <p:spPr>
          <a:xfrm rot="1067366">
            <a:off x="8591066" y="4627736"/>
            <a:ext cx="1437875" cy="1308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287B026F-A5B6-A1E8-08C3-9FF90F222BD1}"/>
              </a:ext>
            </a:extLst>
          </p:cNvPr>
          <p:cNvSpPr/>
          <p:nvPr/>
        </p:nvSpPr>
        <p:spPr>
          <a:xfrm rot="21153017">
            <a:off x="8610296" y="3332055"/>
            <a:ext cx="978583" cy="1384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E40156-CA3F-4720-7697-2D6DFB9D1228}"/>
              </a:ext>
            </a:extLst>
          </p:cNvPr>
          <p:cNvSpPr txBox="1"/>
          <p:nvPr/>
        </p:nvSpPr>
        <p:spPr>
          <a:xfrm>
            <a:off x="9880141" y="2312003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Call </a:t>
            </a:r>
            <a:r>
              <a:rPr lang="en-GB" dirty="0" err="1"/>
              <a:t>center</a:t>
            </a:r>
            <a:endParaRPr lang="en-GB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DD0B900-3EEB-D02B-E429-F3A88C7EB92E}"/>
              </a:ext>
            </a:extLst>
          </p:cNvPr>
          <p:cNvSpPr/>
          <p:nvPr/>
        </p:nvSpPr>
        <p:spPr>
          <a:xfrm>
            <a:off x="2886232" y="3886750"/>
            <a:ext cx="582136" cy="2737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CE0AEFED-4F69-5099-3D3C-15546F6FD610}"/>
              </a:ext>
            </a:extLst>
          </p:cNvPr>
          <p:cNvSpPr/>
          <p:nvPr/>
        </p:nvSpPr>
        <p:spPr>
          <a:xfrm>
            <a:off x="7073114" y="3774888"/>
            <a:ext cx="582136" cy="2737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745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A085D-71FA-2C63-D7E9-D40C498D7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488332" cy="706964"/>
          </a:xfrm>
        </p:spPr>
        <p:txBody>
          <a:bodyPr/>
          <a:lstStyle/>
          <a:p>
            <a:r>
              <a:rPr lang="en-GB" dirty="0"/>
              <a:t>Current position					Fund Company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7F1531-C173-99B1-F735-4C0EDF3D58DA}"/>
              </a:ext>
            </a:extLst>
          </p:cNvPr>
          <p:cNvSpPr/>
          <p:nvPr/>
        </p:nvSpPr>
        <p:spPr>
          <a:xfrm>
            <a:off x="1379445" y="2585106"/>
            <a:ext cx="1786783" cy="10297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Fund </a:t>
            </a:r>
          </a:p>
          <a:p>
            <a:pPr algn="ctr"/>
            <a:r>
              <a:rPr lang="en-GB" dirty="0"/>
              <a:t>Registrar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3F0AC7-0B63-BEA2-5771-137461BF6C1A}"/>
              </a:ext>
            </a:extLst>
          </p:cNvPr>
          <p:cNvSpPr/>
          <p:nvPr/>
        </p:nvSpPr>
        <p:spPr>
          <a:xfrm>
            <a:off x="5874842" y="2599050"/>
            <a:ext cx="1795848" cy="10297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Fund Investment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F5A73F-6F9C-57AF-0FB9-1D4886CE9EDE}"/>
              </a:ext>
            </a:extLst>
          </p:cNvPr>
          <p:cNvSpPr/>
          <p:nvPr/>
        </p:nvSpPr>
        <p:spPr>
          <a:xfrm>
            <a:off x="2559036" y="4217457"/>
            <a:ext cx="1796326" cy="5025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Bank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44964E-7B58-9E4A-8A9E-2965D0DC51B6}"/>
              </a:ext>
            </a:extLst>
          </p:cNvPr>
          <p:cNvSpPr/>
          <p:nvPr/>
        </p:nvSpPr>
        <p:spPr>
          <a:xfrm>
            <a:off x="171313" y="4221697"/>
            <a:ext cx="994293" cy="5025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Broker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AF2287-2E81-52E2-4EA9-F6E3BB945F28}"/>
              </a:ext>
            </a:extLst>
          </p:cNvPr>
          <p:cNvSpPr/>
          <p:nvPr/>
        </p:nvSpPr>
        <p:spPr>
          <a:xfrm>
            <a:off x="1227982" y="4217458"/>
            <a:ext cx="1277721" cy="5025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Insurance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943EC2-A04B-C715-497E-016CAD5612D9}"/>
              </a:ext>
            </a:extLst>
          </p:cNvPr>
          <p:cNvSpPr/>
          <p:nvPr/>
        </p:nvSpPr>
        <p:spPr>
          <a:xfrm>
            <a:off x="148107" y="4818265"/>
            <a:ext cx="1754659" cy="43660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Fund Connext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0061D1-330B-0A9A-E6A0-3C03A6F56E8D}"/>
              </a:ext>
            </a:extLst>
          </p:cNvPr>
          <p:cNvSpPr/>
          <p:nvPr/>
        </p:nvSpPr>
        <p:spPr>
          <a:xfrm>
            <a:off x="8946293" y="2613508"/>
            <a:ext cx="2026508" cy="10297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Fund</a:t>
            </a:r>
          </a:p>
          <a:p>
            <a:pPr algn="ctr"/>
            <a:r>
              <a:rPr lang="en-GB" dirty="0"/>
              <a:t>Accounting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E98994-A912-356B-71BA-BB39C717A5D7}"/>
              </a:ext>
            </a:extLst>
          </p:cNvPr>
          <p:cNvSpPr/>
          <p:nvPr/>
        </p:nvSpPr>
        <p:spPr>
          <a:xfrm>
            <a:off x="5899120" y="4226549"/>
            <a:ext cx="1505699" cy="502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Fund Manager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3F4DBB-64E8-BBAE-D497-106B6279BE8A}"/>
              </a:ext>
            </a:extLst>
          </p:cNvPr>
          <p:cNvSpPr/>
          <p:nvPr/>
        </p:nvSpPr>
        <p:spPr>
          <a:xfrm>
            <a:off x="7475716" y="4224221"/>
            <a:ext cx="1150026" cy="502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Dealer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161C64-371E-6191-D727-93CEB98FAFDC}"/>
              </a:ext>
            </a:extLst>
          </p:cNvPr>
          <p:cNvSpPr/>
          <p:nvPr/>
        </p:nvSpPr>
        <p:spPr>
          <a:xfrm>
            <a:off x="8909617" y="4190537"/>
            <a:ext cx="1505700" cy="502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Account</a:t>
            </a:r>
          </a:p>
        </p:txBody>
      </p:sp>
      <p:pic>
        <p:nvPicPr>
          <p:cNvPr id="15" name="Graphic 14" descr="Man">
            <a:extLst>
              <a:ext uri="{FF2B5EF4-FFF2-40B4-BE49-F238E27FC236}">
                <a16:creationId xmlns:a16="http://schemas.microsoft.com/office/drawing/2014/main" id="{617E22DE-F9C9-3744-ED3E-26BC00623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931" y="2585106"/>
            <a:ext cx="982042" cy="98204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058A84B-8FCD-7383-15A4-10E9303E8D7F}"/>
              </a:ext>
            </a:extLst>
          </p:cNvPr>
          <p:cNvSpPr/>
          <p:nvPr/>
        </p:nvSpPr>
        <p:spPr>
          <a:xfrm>
            <a:off x="1951853" y="4815364"/>
            <a:ext cx="1314975" cy="43660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Registrar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0A0E7D-DC01-3153-2EBD-13EE2BAAAE0C}"/>
              </a:ext>
            </a:extLst>
          </p:cNvPr>
          <p:cNvSpPr/>
          <p:nvPr/>
        </p:nvSpPr>
        <p:spPr>
          <a:xfrm>
            <a:off x="5878878" y="4830132"/>
            <a:ext cx="1209977" cy="43660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CRD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78AFB9-DDE6-1533-CC22-D4810B631F09}"/>
              </a:ext>
            </a:extLst>
          </p:cNvPr>
          <p:cNvSpPr/>
          <p:nvPr/>
        </p:nvSpPr>
        <p:spPr>
          <a:xfrm>
            <a:off x="7125557" y="4830133"/>
            <a:ext cx="1505700" cy="43660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Bloomberg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AEF638-97F4-1E3D-5637-CD1FDA2CC4D0}"/>
              </a:ext>
            </a:extLst>
          </p:cNvPr>
          <p:cNvSpPr/>
          <p:nvPr/>
        </p:nvSpPr>
        <p:spPr>
          <a:xfrm>
            <a:off x="8919993" y="4797991"/>
            <a:ext cx="1505700" cy="43660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err="1"/>
              <a:t>Hiportfolio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A12D9C-D1CC-D058-4F21-4A530804472B}"/>
              </a:ext>
            </a:extLst>
          </p:cNvPr>
          <p:cNvSpPr/>
          <p:nvPr/>
        </p:nvSpPr>
        <p:spPr>
          <a:xfrm>
            <a:off x="10643286" y="4866189"/>
            <a:ext cx="1505700" cy="43660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In-house</a:t>
            </a:r>
          </a:p>
        </p:txBody>
      </p:sp>
      <p:pic>
        <p:nvPicPr>
          <p:cNvPr id="3" name="Graphic 2" descr="Call center">
            <a:extLst>
              <a:ext uri="{FF2B5EF4-FFF2-40B4-BE49-F238E27FC236}">
                <a16:creationId xmlns:a16="http://schemas.microsoft.com/office/drawing/2014/main" id="{0CA13E7A-9D3F-27B2-D8D3-F548805300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6582" y="2758753"/>
            <a:ext cx="572852" cy="572852"/>
          </a:xfrm>
          <a:prstGeom prst="rect">
            <a:avLst/>
          </a:prstGeom>
        </p:spPr>
      </p:pic>
      <p:pic>
        <p:nvPicPr>
          <p:cNvPr id="10" name="Graphic 9" descr="Call center">
            <a:extLst>
              <a:ext uri="{FF2B5EF4-FFF2-40B4-BE49-F238E27FC236}">
                <a16:creationId xmlns:a16="http://schemas.microsoft.com/office/drawing/2014/main" id="{454E3AAD-74B6-D0CE-810A-F91DAC6B17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65176" y="2791449"/>
            <a:ext cx="572852" cy="572852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D77791A-708A-6B7B-D78F-7806C6095DD3}"/>
              </a:ext>
            </a:extLst>
          </p:cNvPr>
          <p:cNvSpPr/>
          <p:nvPr/>
        </p:nvSpPr>
        <p:spPr>
          <a:xfrm>
            <a:off x="1305584" y="5725849"/>
            <a:ext cx="880008" cy="44958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r>
              <a:rPr lang="en-GB" dirty="0" err="1"/>
              <a:t>ata</a:t>
            </a:r>
            <a:r>
              <a:rPr lang="en-GB" dirty="0"/>
              <a:t> Feed</a:t>
            </a:r>
          </a:p>
        </p:txBody>
      </p:sp>
      <p:pic>
        <p:nvPicPr>
          <p:cNvPr id="22" name="Graphic 21" descr="Document">
            <a:extLst>
              <a:ext uri="{FF2B5EF4-FFF2-40B4-BE49-F238E27FC236}">
                <a16:creationId xmlns:a16="http://schemas.microsoft.com/office/drawing/2014/main" id="{CD391F63-F961-28AC-3707-E9CDFD4EED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1140" y="5831776"/>
            <a:ext cx="563880" cy="563880"/>
          </a:xfrm>
          <a:prstGeom prst="rect">
            <a:avLst/>
          </a:prstGeom>
        </p:spPr>
      </p:pic>
      <p:sp>
        <p:nvSpPr>
          <p:cNvPr id="24" name="Cylinder 23">
            <a:extLst>
              <a:ext uri="{FF2B5EF4-FFF2-40B4-BE49-F238E27FC236}">
                <a16:creationId xmlns:a16="http://schemas.microsoft.com/office/drawing/2014/main" id="{C94FB121-1CD7-2F02-F82C-7B2870DB3991}"/>
              </a:ext>
            </a:extLst>
          </p:cNvPr>
          <p:cNvSpPr/>
          <p:nvPr/>
        </p:nvSpPr>
        <p:spPr>
          <a:xfrm>
            <a:off x="3979568" y="5798215"/>
            <a:ext cx="704873" cy="594612"/>
          </a:xfrm>
          <a:prstGeom prst="ca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DB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592BC5-B099-2A74-36FB-2CC850B7C004}"/>
              </a:ext>
            </a:extLst>
          </p:cNvPr>
          <p:cNvSpPr/>
          <p:nvPr/>
        </p:nvSpPr>
        <p:spPr>
          <a:xfrm>
            <a:off x="9164030" y="5864286"/>
            <a:ext cx="704873" cy="44958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ETL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DEF74DF-6B1C-AB65-AED9-F0C7E2961C09}"/>
              </a:ext>
            </a:extLst>
          </p:cNvPr>
          <p:cNvSpPr/>
          <p:nvPr/>
        </p:nvSpPr>
        <p:spPr>
          <a:xfrm>
            <a:off x="6292244" y="5836221"/>
            <a:ext cx="1871121" cy="50250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r>
              <a:rPr lang="en-GB" dirty="0" err="1"/>
              <a:t>ata</a:t>
            </a:r>
            <a:r>
              <a:rPr lang="en-GB" dirty="0"/>
              <a:t> Feed</a:t>
            </a:r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37734ABA-0568-81F5-D764-4DE983FC668D}"/>
              </a:ext>
            </a:extLst>
          </p:cNvPr>
          <p:cNvSpPr/>
          <p:nvPr/>
        </p:nvSpPr>
        <p:spPr>
          <a:xfrm rot="16200000">
            <a:off x="8551371" y="5831416"/>
            <a:ext cx="200511" cy="76438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AF328F66-7EBF-AB1C-3EF8-A4CE2A860B80}"/>
              </a:ext>
            </a:extLst>
          </p:cNvPr>
          <p:cNvSpPr/>
          <p:nvPr/>
        </p:nvSpPr>
        <p:spPr>
          <a:xfrm rot="5400000">
            <a:off x="8525486" y="5578640"/>
            <a:ext cx="200512" cy="73616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9052709E-9610-6DDE-3207-222273BA29CF}"/>
              </a:ext>
            </a:extLst>
          </p:cNvPr>
          <p:cNvSpPr/>
          <p:nvPr/>
        </p:nvSpPr>
        <p:spPr>
          <a:xfrm>
            <a:off x="9234616" y="5354385"/>
            <a:ext cx="182997" cy="4908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Arrow: Up 34">
            <a:extLst>
              <a:ext uri="{FF2B5EF4-FFF2-40B4-BE49-F238E27FC236}">
                <a16:creationId xmlns:a16="http://schemas.microsoft.com/office/drawing/2014/main" id="{582B2443-3EEA-5DC3-BD7C-46045151E9EE}"/>
              </a:ext>
            </a:extLst>
          </p:cNvPr>
          <p:cNvSpPr/>
          <p:nvPr/>
        </p:nvSpPr>
        <p:spPr>
          <a:xfrm>
            <a:off x="9516465" y="5316754"/>
            <a:ext cx="182997" cy="49080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3F0E83A1-F186-996B-3A0F-D2E26EAF5BF8}"/>
              </a:ext>
            </a:extLst>
          </p:cNvPr>
          <p:cNvSpPr/>
          <p:nvPr/>
        </p:nvSpPr>
        <p:spPr>
          <a:xfrm>
            <a:off x="6321502" y="5303880"/>
            <a:ext cx="182997" cy="4908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Arrow: Up 38">
            <a:extLst>
              <a:ext uri="{FF2B5EF4-FFF2-40B4-BE49-F238E27FC236}">
                <a16:creationId xmlns:a16="http://schemas.microsoft.com/office/drawing/2014/main" id="{63C2BFC7-E501-8771-352A-78FFE0E0D5AC}"/>
              </a:ext>
            </a:extLst>
          </p:cNvPr>
          <p:cNvSpPr/>
          <p:nvPr/>
        </p:nvSpPr>
        <p:spPr>
          <a:xfrm>
            <a:off x="6547360" y="5296366"/>
            <a:ext cx="182997" cy="49080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0F0BF5BF-388E-AF6A-5B03-AA459EF32BE5}"/>
              </a:ext>
            </a:extLst>
          </p:cNvPr>
          <p:cNvSpPr/>
          <p:nvPr/>
        </p:nvSpPr>
        <p:spPr>
          <a:xfrm>
            <a:off x="557296" y="5370322"/>
            <a:ext cx="182997" cy="4908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Arrow: Up 40">
            <a:extLst>
              <a:ext uri="{FF2B5EF4-FFF2-40B4-BE49-F238E27FC236}">
                <a16:creationId xmlns:a16="http://schemas.microsoft.com/office/drawing/2014/main" id="{4427B2C9-BE66-27E2-3857-66979F106C27}"/>
              </a:ext>
            </a:extLst>
          </p:cNvPr>
          <p:cNvSpPr/>
          <p:nvPr/>
        </p:nvSpPr>
        <p:spPr>
          <a:xfrm>
            <a:off x="786356" y="5368377"/>
            <a:ext cx="182997" cy="49080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2" name="Graphic 41" descr="Call center">
            <a:extLst>
              <a:ext uri="{FF2B5EF4-FFF2-40B4-BE49-F238E27FC236}">
                <a16:creationId xmlns:a16="http://schemas.microsoft.com/office/drawing/2014/main" id="{02D7CA13-665B-BE54-271F-8E72CFDEC7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34928" y="2771269"/>
            <a:ext cx="572852" cy="572852"/>
          </a:xfrm>
          <a:prstGeom prst="rect">
            <a:avLst/>
          </a:prstGeom>
        </p:spPr>
      </p:pic>
      <p:pic>
        <p:nvPicPr>
          <p:cNvPr id="43" name="Graphic 42" descr="Document">
            <a:extLst>
              <a:ext uri="{FF2B5EF4-FFF2-40B4-BE49-F238E27FC236}">
                <a16:creationId xmlns:a16="http://schemas.microsoft.com/office/drawing/2014/main" id="{C0B7DBFC-1A13-79D8-98EE-E1745B1F21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96356" y="5820588"/>
            <a:ext cx="563880" cy="563880"/>
          </a:xfrm>
          <a:prstGeom prst="rect">
            <a:avLst/>
          </a:prstGeom>
        </p:spPr>
      </p:pic>
      <p:sp>
        <p:nvSpPr>
          <p:cNvPr id="44" name="Arrow: Down 43">
            <a:extLst>
              <a:ext uri="{FF2B5EF4-FFF2-40B4-BE49-F238E27FC236}">
                <a16:creationId xmlns:a16="http://schemas.microsoft.com/office/drawing/2014/main" id="{09E2B067-F655-B3B8-3D54-B3142DAA7293}"/>
              </a:ext>
            </a:extLst>
          </p:cNvPr>
          <p:cNvSpPr/>
          <p:nvPr/>
        </p:nvSpPr>
        <p:spPr>
          <a:xfrm>
            <a:off x="2426344" y="5347368"/>
            <a:ext cx="182997" cy="4908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Arrow: Up 44">
            <a:extLst>
              <a:ext uri="{FF2B5EF4-FFF2-40B4-BE49-F238E27FC236}">
                <a16:creationId xmlns:a16="http://schemas.microsoft.com/office/drawing/2014/main" id="{421A314D-3ABD-36A3-41B0-7331512AE593}"/>
              </a:ext>
            </a:extLst>
          </p:cNvPr>
          <p:cNvSpPr/>
          <p:nvPr/>
        </p:nvSpPr>
        <p:spPr>
          <a:xfrm>
            <a:off x="4047202" y="5280876"/>
            <a:ext cx="182997" cy="49080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Arrow: Left-Right 46">
            <a:extLst>
              <a:ext uri="{FF2B5EF4-FFF2-40B4-BE49-F238E27FC236}">
                <a16:creationId xmlns:a16="http://schemas.microsoft.com/office/drawing/2014/main" id="{D080E2BE-BC98-4E7D-9B2B-E1DF6D316873}"/>
              </a:ext>
            </a:extLst>
          </p:cNvPr>
          <p:cNvSpPr/>
          <p:nvPr/>
        </p:nvSpPr>
        <p:spPr>
          <a:xfrm>
            <a:off x="2188358" y="5922448"/>
            <a:ext cx="284111" cy="14301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Arrow: Left-Right 47">
            <a:extLst>
              <a:ext uri="{FF2B5EF4-FFF2-40B4-BE49-F238E27FC236}">
                <a16:creationId xmlns:a16="http://schemas.microsoft.com/office/drawing/2014/main" id="{90CCFEB5-99CF-E470-F93D-62CFE84F0CE6}"/>
              </a:ext>
            </a:extLst>
          </p:cNvPr>
          <p:cNvSpPr/>
          <p:nvPr/>
        </p:nvSpPr>
        <p:spPr>
          <a:xfrm>
            <a:off x="989377" y="5982190"/>
            <a:ext cx="284111" cy="14301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B077EA8-1E7B-C864-ABEB-55E17878A05E}"/>
              </a:ext>
            </a:extLst>
          </p:cNvPr>
          <p:cNvSpPr/>
          <p:nvPr/>
        </p:nvSpPr>
        <p:spPr>
          <a:xfrm>
            <a:off x="1290084" y="6388408"/>
            <a:ext cx="912061" cy="44958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ETL</a:t>
            </a:r>
          </a:p>
        </p:txBody>
      </p:sp>
      <p:sp>
        <p:nvSpPr>
          <p:cNvPr id="51" name="Arrow: Bent 50">
            <a:extLst>
              <a:ext uri="{FF2B5EF4-FFF2-40B4-BE49-F238E27FC236}">
                <a16:creationId xmlns:a16="http://schemas.microsoft.com/office/drawing/2014/main" id="{F76A3E0B-C511-A23A-8EA7-1ACCE9402E28}"/>
              </a:ext>
            </a:extLst>
          </p:cNvPr>
          <p:cNvSpPr/>
          <p:nvPr/>
        </p:nvSpPr>
        <p:spPr>
          <a:xfrm rot="10800000" flipH="1">
            <a:off x="740293" y="6426242"/>
            <a:ext cx="404969" cy="28219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2" name="Arrow: Bent 51">
            <a:extLst>
              <a:ext uri="{FF2B5EF4-FFF2-40B4-BE49-F238E27FC236}">
                <a16:creationId xmlns:a16="http://schemas.microsoft.com/office/drawing/2014/main" id="{EBDECAA6-5AF7-0082-700B-3A7C68E24D6F}"/>
              </a:ext>
            </a:extLst>
          </p:cNvPr>
          <p:cNvSpPr/>
          <p:nvPr/>
        </p:nvSpPr>
        <p:spPr>
          <a:xfrm rot="10800000">
            <a:off x="2224393" y="6362065"/>
            <a:ext cx="404969" cy="28219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3" name="Arrow: Bent-Up 52">
            <a:extLst>
              <a:ext uri="{FF2B5EF4-FFF2-40B4-BE49-F238E27FC236}">
                <a16:creationId xmlns:a16="http://schemas.microsoft.com/office/drawing/2014/main" id="{ED50EABB-235D-FFA1-F33A-16B0E1A97940}"/>
              </a:ext>
            </a:extLst>
          </p:cNvPr>
          <p:cNvSpPr/>
          <p:nvPr/>
        </p:nvSpPr>
        <p:spPr>
          <a:xfrm>
            <a:off x="2391307" y="6494687"/>
            <a:ext cx="1826317" cy="274091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86DAA9D-250B-CD41-726B-2DEEF4470438}"/>
              </a:ext>
            </a:extLst>
          </p:cNvPr>
          <p:cNvSpPr/>
          <p:nvPr/>
        </p:nvSpPr>
        <p:spPr>
          <a:xfrm>
            <a:off x="4514816" y="4834511"/>
            <a:ext cx="1148932" cy="43660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In-house</a:t>
            </a:r>
          </a:p>
        </p:txBody>
      </p:sp>
      <p:sp>
        <p:nvSpPr>
          <p:cNvPr id="56" name="Cylinder 55">
            <a:extLst>
              <a:ext uri="{FF2B5EF4-FFF2-40B4-BE49-F238E27FC236}">
                <a16:creationId xmlns:a16="http://schemas.microsoft.com/office/drawing/2014/main" id="{A749AF65-1817-50E1-BE06-B86A7026992F}"/>
              </a:ext>
            </a:extLst>
          </p:cNvPr>
          <p:cNvSpPr/>
          <p:nvPr/>
        </p:nvSpPr>
        <p:spPr>
          <a:xfrm>
            <a:off x="10812739" y="5811469"/>
            <a:ext cx="704873" cy="594612"/>
          </a:xfrm>
          <a:prstGeom prst="ca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DB</a:t>
            </a:r>
          </a:p>
        </p:txBody>
      </p:sp>
      <p:sp>
        <p:nvSpPr>
          <p:cNvPr id="57" name="Arrow: Down 56">
            <a:extLst>
              <a:ext uri="{FF2B5EF4-FFF2-40B4-BE49-F238E27FC236}">
                <a16:creationId xmlns:a16="http://schemas.microsoft.com/office/drawing/2014/main" id="{BBBD77F8-0D8C-3CBF-EEAA-A18E285FC579}"/>
              </a:ext>
            </a:extLst>
          </p:cNvPr>
          <p:cNvSpPr/>
          <p:nvPr/>
        </p:nvSpPr>
        <p:spPr>
          <a:xfrm>
            <a:off x="10982139" y="5354385"/>
            <a:ext cx="182997" cy="4908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Arrow: Up 57">
            <a:extLst>
              <a:ext uri="{FF2B5EF4-FFF2-40B4-BE49-F238E27FC236}">
                <a16:creationId xmlns:a16="http://schemas.microsoft.com/office/drawing/2014/main" id="{ABED88D7-9EB6-D7FB-63B9-0239CF8260FC}"/>
              </a:ext>
            </a:extLst>
          </p:cNvPr>
          <p:cNvSpPr/>
          <p:nvPr/>
        </p:nvSpPr>
        <p:spPr>
          <a:xfrm>
            <a:off x="11263988" y="5316754"/>
            <a:ext cx="182997" cy="49080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1C822BFB-D9FF-B08A-DFEA-A966BE3A75BA}"/>
              </a:ext>
            </a:extLst>
          </p:cNvPr>
          <p:cNvSpPr/>
          <p:nvPr/>
        </p:nvSpPr>
        <p:spPr>
          <a:xfrm>
            <a:off x="7530593" y="5288639"/>
            <a:ext cx="182997" cy="4908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Arrow: Up 59">
            <a:extLst>
              <a:ext uri="{FF2B5EF4-FFF2-40B4-BE49-F238E27FC236}">
                <a16:creationId xmlns:a16="http://schemas.microsoft.com/office/drawing/2014/main" id="{D97093E2-0F79-05DD-061D-0A9AD8B6408A}"/>
              </a:ext>
            </a:extLst>
          </p:cNvPr>
          <p:cNvSpPr/>
          <p:nvPr/>
        </p:nvSpPr>
        <p:spPr>
          <a:xfrm>
            <a:off x="7763016" y="5300495"/>
            <a:ext cx="182997" cy="49080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147C8E5-3BE5-0781-21C3-C6F7D4F8352B}"/>
              </a:ext>
            </a:extLst>
          </p:cNvPr>
          <p:cNvSpPr/>
          <p:nvPr/>
        </p:nvSpPr>
        <p:spPr>
          <a:xfrm>
            <a:off x="3335939" y="4837822"/>
            <a:ext cx="1109766" cy="43660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Rest API</a:t>
            </a:r>
          </a:p>
        </p:txBody>
      </p:sp>
      <p:sp>
        <p:nvSpPr>
          <p:cNvPr id="62" name="Arrow: Down 61">
            <a:extLst>
              <a:ext uri="{FF2B5EF4-FFF2-40B4-BE49-F238E27FC236}">
                <a16:creationId xmlns:a16="http://schemas.microsoft.com/office/drawing/2014/main" id="{A48214F3-45FE-5125-865C-B181A31C03F4}"/>
              </a:ext>
            </a:extLst>
          </p:cNvPr>
          <p:cNvSpPr/>
          <p:nvPr/>
        </p:nvSpPr>
        <p:spPr>
          <a:xfrm rot="16200000">
            <a:off x="10261193" y="5805537"/>
            <a:ext cx="200511" cy="76438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Arrow: Down 62">
            <a:extLst>
              <a:ext uri="{FF2B5EF4-FFF2-40B4-BE49-F238E27FC236}">
                <a16:creationId xmlns:a16="http://schemas.microsoft.com/office/drawing/2014/main" id="{7457ED3A-8D9C-E300-6C59-26D8BBDBAF7A}"/>
              </a:ext>
            </a:extLst>
          </p:cNvPr>
          <p:cNvSpPr/>
          <p:nvPr/>
        </p:nvSpPr>
        <p:spPr>
          <a:xfrm rot="5400000">
            <a:off x="10235308" y="5552761"/>
            <a:ext cx="200512" cy="73616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Arrow: Up 63">
            <a:extLst>
              <a:ext uri="{FF2B5EF4-FFF2-40B4-BE49-F238E27FC236}">
                <a16:creationId xmlns:a16="http://schemas.microsoft.com/office/drawing/2014/main" id="{0ABB9BF9-617C-BE7E-A5A0-F8F77CD81D03}"/>
              </a:ext>
            </a:extLst>
          </p:cNvPr>
          <p:cNvSpPr/>
          <p:nvPr/>
        </p:nvSpPr>
        <p:spPr>
          <a:xfrm>
            <a:off x="4546364" y="5288638"/>
            <a:ext cx="182997" cy="49080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Arrow: Bent-Up 64">
            <a:extLst>
              <a:ext uri="{FF2B5EF4-FFF2-40B4-BE49-F238E27FC236}">
                <a16:creationId xmlns:a16="http://schemas.microsoft.com/office/drawing/2014/main" id="{045B5D68-6A3F-6C7E-C71E-B72C21309103}"/>
              </a:ext>
            </a:extLst>
          </p:cNvPr>
          <p:cNvSpPr/>
          <p:nvPr/>
        </p:nvSpPr>
        <p:spPr>
          <a:xfrm flipH="1">
            <a:off x="4491418" y="6449558"/>
            <a:ext cx="6261346" cy="268975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8566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D3F7C-C35A-2F3B-0901-58120F153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B333A-C31C-EFD3-0FBA-6733A2B85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Microservice Architect</a:t>
            </a:r>
          </a:p>
          <a:p>
            <a:r>
              <a:rPr lang="en-US" dirty="0"/>
              <a:t>Container Base application</a:t>
            </a:r>
          </a:p>
          <a:p>
            <a:r>
              <a:rPr lang="en-US" dirty="0"/>
              <a:t>Rest/Api</a:t>
            </a:r>
          </a:p>
          <a:p>
            <a:r>
              <a:rPr lang="en-US" dirty="0"/>
              <a:t>API Gateway</a:t>
            </a:r>
          </a:p>
          <a:p>
            <a:r>
              <a:rPr lang="en-US" dirty="0"/>
              <a:t>Message broker</a:t>
            </a:r>
          </a:p>
          <a:p>
            <a:r>
              <a:rPr lang="en-US" dirty="0"/>
              <a:t>SQL, NoSQL</a:t>
            </a:r>
          </a:p>
          <a:p>
            <a:r>
              <a:rPr lang="en-US" dirty="0"/>
              <a:t>Logging and monitoring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96024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476</TotalTime>
  <Words>452</Words>
  <Application>Microsoft Office PowerPoint</Application>
  <PresentationFormat>Widescreen</PresentationFormat>
  <Paragraphs>163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Century Gothic</vt:lpstr>
      <vt:lpstr>Wingdings 3</vt:lpstr>
      <vt:lpstr>Ion Boardroom</vt:lpstr>
      <vt:lpstr>Narong Sungkhamalai</vt:lpstr>
      <vt:lpstr>Overview</vt:lpstr>
      <vt:lpstr>Experience     Siam Computer</vt:lpstr>
      <vt:lpstr>Experience                     KTAM</vt:lpstr>
      <vt:lpstr>Experience         Bualuang Securities</vt:lpstr>
      <vt:lpstr>Why find new career?</vt:lpstr>
      <vt:lpstr>Strong/Weak</vt:lpstr>
      <vt:lpstr>Hiportfolio                     HiBLS</vt:lpstr>
      <vt:lpstr>Bualuang Intranet</vt:lpstr>
      <vt:lpstr>iPoint</vt:lpstr>
      <vt:lpstr>K2 workflow Deposit/Withdraw</vt:lpstr>
      <vt:lpstr>Structure Notes</vt:lpstr>
      <vt:lpstr>Customer Info</vt:lpstr>
      <vt:lpstr>Current position     Fund Company</vt:lpstr>
      <vt:lpstr>Stack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Narong Sungkhamalai</dc:creator>
  <cp:lastModifiedBy>Narong Sungkhamalai</cp:lastModifiedBy>
  <cp:revision>44</cp:revision>
  <dcterms:created xsi:type="dcterms:W3CDTF">2023-07-05T15:54:27Z</dcterms:created>
  <dcterms:modified xsi:type="dcterms:W3CDTF">2023-08-27T16:36:32Z</dcterms:modified>
</cp:coreProperties>
</file>